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B2E24"/>
                </a:solidFill>
                <a:latin typeface="Cambria"/>
              </a:defRPr>
            </a:pPr>
            <a:r>
              <a:rPr sz="1800" b="0" i="0" u="none" strike="noStrike">
                <a:solidFill>
                  <a:srgbClr val="0B2E24"/>
                </a:solidFill>
                <a:latin typeface="Cambria"/>
              </a:rPr>
              <a:t>Tests by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14503C"/>
            </a:solidFill>
            <a:effectLst/>
          </c:spPr>
          <c:invertIfNegative val="0"/>
          <c:dLbls>
            <c:numFmt formatCode="#,##0" sourceLinked="0"/>
            <c:txPr>
              <a:bodyPr/>
              <a:lstStyle/>
              <a:p>
                <a:pPr>
                  <a:defRPr b="0" i="0" strike="noStrike" sz="1400" u="none">
                    <a:solidFill>
                      <a:srgbClr val="0B2E24"/>
                    </a:solidFill>
                    <a:latin typeface="Arial"/>
                  </a:defRPr>
                </a:pPr>
              </a:p>
            </c:txPr>
            <c:showLegendKey val="0"/>
            <c:showVal val="1"/>
            <c:showCatName val="0"/>
            <c:showSerName val="0"/>
            <c:showPercent val="0"/>
            <c:showBubbleSize val="0"/>
            <c:showLeaderLines val="0"/>
          </c:dLbls>
          <c:cat>
            <c:multiLvlStrRef>
              <c:f>Sheet1!$A$2:$A$7</c:f>
              <c:multiLvlStrCache>
                <c:ptCount val="6"/>
                <c:lvl>
                  <c:pt idx="0">
                    <c:v>Create (POST)</c:v>
                  </c:pt>
                  <c:pt idx="1">
                    <c:v>Read (GET)</c:v>
                  </c:pt>
                  <c:pt idx="2">
                    <c:v>Update (PUT/PATCH)</c:v>
                  </c:pt>
                  <c:pt idx="3">
                    <c:v>Health + 404</c:v>
                  </c:pt>
                  <c:pt idx="4">
                    <c:v>Delete</c:v>
                  </c:pt>
                  <c:pt idx="5">
                    <c:v>Summary</c:v>
                  </c:pt>
                </c:lvl>
              </c:multiLvlStrCache>
            </c:multiLvlStrRef>
          </c:cat>
          <c:val>
            <c:numRef>
              <c:f>Sheet1!$B$2:$B$7</c:f>
              <c:numCache>
                <c:formatCode>General</c:formatCode>
                <c:ptCount val="6"/>
                <c:pt idx="0">
                  <c:v>4</c:v>
                </c:pt>
                <c:pt idx="1">
                  <c:v>4</c:v>
                </c:pt>
                <c:pt idx="2">
                  <c:v>3</c:v>
                </c:pt>
                <c:pt idx="3">
                  <c:v>2</c:v>
                </c:pt>
                <c:pt idx="4">
                  <c:v>1</c:v>
                </c:pt>
                <c:pt idx="5">
                  <c:v>1</c:v>
                </c:pt>
              </c:numCache>
            </c:numRef>
          </c:val>
        </c:ser>
        <c:dLbls>
          <c:numFmt formatCode="#,##0" sourceLinked="0"/>
          <c:txPr>
            <a:bodyPr/>
            <a:lstStyle/>
            <a:p>
              <a:pPr>
                <a:defRPr b="0" i="0" strike="noStrike" sz="1400" u="none">
                  <a:solidFill>
                    <a:srgbClr val="0B2E24"/>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2271F"/>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[0:00 - 0:15] Greet the class. "We are Group 3A and this is our Expense Tracker API. It is a REST API built with Node.js and Express." Do NOT read the slide. Keep it to two sentences,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[0:15 - 0:40] One sentence on the problem, one on the solution. Point at the four numbers: 9 endpoints, 9 categories, 15 automated tests all passing, and 13 people who built it together. Say "we will show all of this working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[0:40 - 1:05] Trace one request left to right. The request hits a route, validation checks the input, the controller does the work, and db.js reads or writes the JSON file. Because the code is split into layers, each teammate could own one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[1:05 - 1:30] This is the core requirement. Say each letter: Create is POST, Read is GET (all or one), Update is PUT for a full replace and PATCH for partial, Delete is DELETE. Tell them you will now show each one live. Everything here is exactly what the demo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[1:30 - 1:50] Quick slide. Filters can be combined in one URL. Sort with a minus sign for descending. Then mention the summary endpoint, which totals spending per category. We show it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[1:50 - 2:10] Point out that the API lists EVERY error at once, not just the first. This is a real response we captured from our own server. We will trigger it live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[2:10 - 3:40] SWITCH TO THE TERMINAL / POSTMAN NOW. Follow the six boxes in order and say what you are doing out loud. Keep the server already running before you start. If something breaks, stay calm and use the backup video. Come back to the slides when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[3:40 - 4:05] The judges score "testing of endpoints". Say: we test every endpoint, including the failure cases, like invalid data returning 400 and a missing id returning 404. Optionally run npm test live and show 15 green ticks (takes about 2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[4:05 - 4:30] Collaboration is a judged criterion, so name it. Each gold number is one teammate. Everyone owned a part and pushed their own commits, and merging in order avoided conflicts. Be honest: we hit a merge conflict on the README when connecting to GitHub and resolved it. Then mention that every member can explain their own part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[4:30 - 5:00] Finish strong: "In short: full CRUD, validation, search and filters, 15 passing tests, built by 13 of us." Then invite questions. Let the person who owns the relevant part answer. If you do not know: say "we did not implement that, but we would add it by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640080" y="1097280"/>
            <a:ext cx="5486400" cy="365760"/>
          </a:xfrm>
          <a:prstGeom prst="rect">
            <a:avLst/>
          </a:prstGeom>
          <a:noFill/>
          <a:ln/>
        </p:spPr>
        <p:txBody>
          <a:bodyPr wrap="square" lIns="0" tIns="0" rIns="0" bIns="0" rtlCol="0" anchor="ctr"/>
          <a:lstStyle/>
          <a:p>
            <a:pPr indent="0" marL="0">
              <a:buNone/>
            </a:pPr>
            <a:r>
              <a:rPr lang="en-US" sz="1600" b="1" spc="600" kern="0" dirty="0">
                <a:solidFill>
                  <a:srgbClr val="F5B841"/>
                </a:solidFill>
                <a:latin typeface="Calibri" pitchFamily="34" charset="0"/>
                <a:ea typeface="Calibri" pitchFamily="34" charset="-122"/>
                <a:cs typeface="Calibri" pitchFamily="34" charset="-120"/>
              </a:rPr>
              <a:t>GROUP 3A</a:t>
            </a:r>
            <a:endParaRPr lang="en-US" sz="1600" dirty="0"/>
          </a:p>
        </p:txBody>
      </p:sp>
      <p:sp>
        <p:nvSpPr>
          <p:cNvPr id="3" name="Text 1"/>
          <p:cNvSpPr txBox="1"/>
          <p:nvPr/>
        </p:nvSpPr>
        <p:spPr>
          <a:xfrm>
            <a:off x="640080" y="1600200"/>
            <a:ext cx="6035040" cy="1737360"/>
          </a:xfrm>
          <a:prstGeom prst="rect">
            <a:avLst/>
          </a:prstGeom>
          <a:noFill/>
          <a:ln/>
        </p:spPr>
        <p:txBody>
          <a:bodyPr wrap="square" lIns="0" tIns="0" rIns="0" bIns="0" rtlCol="0" anchor="t"/>
          <a:lstStyle/>
          <a:p>
            <a:pPr indent="0" marL="0">
              <a:buNone/>
            </a:pPr>
            <a:r>
              <a:rPr lang="en-US" sz="5800" b="1" dirty="0">
                <a:solidFill>
                  <a:srgbClr val="FFFFFF"/>
                </a:solidFill>
                <a:latin typeface="Cambria" pitchFamily="34" charset="0"/>
                <a:ea typeface="Cambria" pitchFamily="34" charset="-122"/>
                <a:cs typeface="Cambria" pitchFamily="34" charset="-120"/>
              </a:rPr>
              <a:t>Expense Tracker API</a:t>
            </a:r>
            <a:endParaRPr lang="en-US" sz="5800" dirty="0"/>
          </a:p>
        </p:txBody>
      </p:sp>
      <p:sp>
        <p:nvSpPr>
          <p:cNvPr id="4" name="Text 2"/>
          <p:cNvSpPr txBox="1"/>
          <p:nvPr/>
        </p:nvSpPr>
        <p:spPr>
          <a:xfrm>
            <a:off x="640080" y="3566160"/>
            <a:ext cx="5303520" cy="1188720"/>
          </a:xfrm>
          <a:prstGeom prst="rect">
            <a:avLst/>
          </a:prstGeom>
          <a:noFill/>
          <a:ln/>
        </p:spPr>
        <p:txBody>
          <a:bodyPr wrap="square" lIns="0" tIns="0" rIns="0" bIns="0" rtlCol="0" anchor="t"/>
          <a:lstStyle/>
          <a:p>
            <a:pPr indent="0" marL="0">
              <a:buNone/>
            </a:pPr>
            <a:r>
              <a:rPr lang="en-US" sz="1800" dirty="0">
                <a:solidFill>
                  <a:srgbClr val="CFE6DB"/>
                </a:solidFill>
                <a:latin typeface="Calibri" pitchFamily="34" charset="0"/>
                <a:ea typeface="Calibri" pitchFamily="34" charset="-122"/>
                <a:cs typeface="Calibri" pitchFamily="34" charset="-120"/>
              </a:rPr>
              <a:t>A RESTful API built with Node.js and Express that lets you add, list, update and delete expenses, with filtering, search, sorting and a spending summary.</a:t>
            </a:r>
            <a:endParaRPr lang="en-US" sz="1800" dirty="0"/>
          </a:p>
        </p:txBody>
      </p:sp>
      <p:sp>
        <p:nvSpPr>
          <p:cNvPr id="5" name="Text 3"/>
          <p:cNvSpPr txBox="1"/>
          <p:nvPr/>
        </p:nvSpPr>
        <p:spPr>
          <a:xfrm>
            <a:off x="640080" y="5852160"/>
            <a:ext cx="5943600" cy="365760"/>
          </a:xfrm>
          <a:prstGeom prst="rect">
            <a:avLst/>
          </a:prstGeom>
          <a:noFill/>
          <a:ln/>
        </p:spPr>
        <p:txBody>
          <a:bodyPr wrap="square" lIns="0" tIns="0" rIns="0" bIns="0" rtlCol="0" anchor="ctr"/>
          <a:lstStyle/>
          <a:p>
            <a:pPr indent="0" marL="0">
              <a:buNone/>
            </a:pPr>
            <a:r>
              <a:rPr lang="en-US" sz="1300" dirty="0">
                <a:solidFill>
                  <a:srgbClr val="3DDC97"/>
                </a:solidFill>
                <a:latin typeface="Calibri" pitchFamily="34" charset="0"/>
                <a:ea typeface="Calibri" pitchFamily="34" charset="-122"/>
                <a:cs typeface="Calibri" pitchFamily="34" charset="-120"/>
              </a:rPr>
              <a:t>Presentation + live demo on localhost  |  Week 4</a:t>
            </a:r>
            <a:endParaRPr lang="en-US" sz="1300" dirty="0"/>
          </a:p>
        </p:txBody>
      </p:sp>
      <p:sp>
        <p:nvSpPr>
          <p:cNvPr id="6" name="Shape 4"/>
          <p:cNvSpPr/>
          <p:nvPr/>
        </p:nvSpPr>
        <p:spPr>
          <a:xfrm>
            <a:off x="7040880" y="1463040"/>
            <a:ext cx="4526280" cy="3566160"/>
          </a:xfrm>
          <a:prstGeom prst="roundRect">
            <a:avLst>
              <a:gd name="adj" fmla="val 3077"/>
            </a:avLst>
          </a:prstGeom>
          <a:solidFill>
            <a:srgbClr val="0F3B2D"/>
          </a:solidFill>
          <a:ln w="12700">
            <a:solidFill>
              <a:srgbClr val="14503C"/>
            </a:solidFill>
            <a:prstDash val="solid"/>
          </a:ln>
        </p:spPr>
      </p:sp>
      <p:sp>
        <p:nvSpPr>
          <p:cNvPr id="7" name="Text 5"/>
          <p:cNvSpPr txBox="1"/>
          <p:nvPr/>
        </p:nvSpPr>
        <p:spPr>
          <a:xfrm>
            <a:off x="7315200" y="1691640"/>
            <a:ext cx="3977640" cy="3108960"/>
          </a:xfrm>
          <a:prstGeom prst="rect">
            <a:avLst/>
          </a:prstGeom>
          <a:noFill/>
          <a:ln/>
        </p:spPr>
        <p:txBody>
          <a:bodyPr wrap="square" lIns="0" tIns="0" rIns="0" bIns="0" rtlCol="0" anchor="t"/>
          <a:lstStyle/>
          <a:p>
            <a:pPr indent="0" marL="0">
              <a:spcAft>
                <a:spcPts val="200"/>
              </a:spcAft>
              <a:buNone/>
            </a:pPr>
            <a:r>
              <a:rPr lang="en-US" sz="1400" b="1" dirty="0">
                <a:solidFill>
                  <a:srgbClr val="F5B841"/>
                </a:solidFill>
                <a:latin typeface="Courier New" pitchFamily="34" charset="0"/>
                <a:ea typeface="Courier New" pitchFamily="34" charset="-122"/>
                <a:cs typeface="Courier New" pitchFamily="34" charset="-120"/>
              </a:rPr>
              <a:t>POST /api/expenses</a:t>
            </a:r>
            <a:endParaRPr lang="en-US" sz="1400" dirty="0"/>
          </a:p>
          <a:p>
            <a:pPr indent="0" marL="0">
              <a:spcAft>
                <a:spcPts val="200"/>
              </a:spcAft>
              <a:buNone/>
            </a:pP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"title": "Lunch",</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"amount": 25.5,</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"category": "Food",</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"date": "2026-09-01"</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indent="0" marL="0">
              <a:spcAft>
                <a:spcPts val="200"/>
              </a:spcAft>
              <a:buNone/>
            </a:pPr>
            <a:endParaRPr lang="en-US" sz="1400" dirty="0"/>
          </a:p>
          <a:p>
            <a:pPr indent="0" marL="0">
              <a:spcAft>
                <a:spcPts val="200"/>
              </a:spcAft>
              <a:buNone/>
            </a:pPr>
            <a:r>
              <a:rPr lang="en-US" sz="1400" b="1" dirty="0">
                <a:solidFill>
                  <a:srgbClr val="3DDC97"/>
                </a:solidFill>
                <a:latin typeface="Courier New" pitchFamily="34" charset="0"/>
                <a:ea typeface="Courier New" pitchFamily="34" charset="-122"/>
                <a:cs typeface="Courier New" pitchFamily="34" charset="-120"/>
              </a:rPr>
              <a:t>201 Created</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"success": true,</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"message": "Expense created"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What we built</a:t>
            </a:r>
            <a:endParaRPr lang="en-US" sz="3800" dirty="0"/>
          </a:p>
        </p:txBody>
      </p:sp>
      <p:sp>
        <p:nvSpPr>
          <p:cNvPr id="3" name="Text 1"/>
          <p:cNvSpPr txBox="1"/>
          <p:nvPr/>
        </p:nvSpPr>
        <p:spPr>
          <a:xfrm>
            <a:off x="640080" y="1554480"/>
            <a:ext cx="5120640" cy="3840480"/>
          </a:xfrm>
          <a:prstGeom prst="rect">
            <a:avLst/>
          </a:prstGeom>
          <a:noFill/>
          <a:ln/>
        </p:spPr>
        <p:txBody>
          <a:bodyPr wrap="square" lIns="0" tIns="0" rIns="0" bIns="0" rtlCol="0" anchor="t"/>
          <a:lstStyle/>
          <a:p>
            <a:pPr indent="0" marL="0">
              <a:buNone/>
            </a:pPr>
            <a:r>
              <a:rPr lang="en-US" sz="1800" b="1" dirty="0">
                <a:solidFill>
                  <a:srgbClr val="14503C"/>
                </a:solidFill>
                <a:latin typeface="Calibri" pitchFamily="34" charset="0"/>
                <a:ea typeface="Calibri" pitchFamily="34" charset="-122"/>
                <a:cs typeface="Calibri" pitchFamily="34" charset="-120"/>
              </a:rPr>
              <a:t>The problem</a:t>
            </a:r>
            <a:endParaRPr lang="en-US" sz="1800" dirty="0"/>
          </a:p>
          <a:p>
            <a:pPr indent="0" marL="0">
              <a:spcAft>
                <a:spcPts val="1600"/>
              </a:spcAft>
              <a:buNone/>
            </a:pPr>
            <a:r>
              <a:rPr lang="en-US" sz="1800" dirty="0">
                <a:solidFill>
                  <a:srgbClr val="12271F"/>
                </a:solidFill>
                <a:latin typeface="Calibri" pitchFamily="34" charset="0"/>
                <a:ea typeface="Calibri" pitchFamily="34" charset="-122"/>
                <a:cs typeface="Calibri" pitchFamily="34" charset="-120"/>
              </a:rPr>
              <a:t>Students lose track of where their money goes. A simple way to record and review spending helps.</a:t>
            </a:r>
            <a:endParaRPr lang="en-US" sz="1800" dirty="0"/>
          </a:p>
          <a:p>
            <a:pPr indent="0" marL="0">
              <a:buNone/>
            </a:pPr>
            <a:r>
              <a:rPr lang="en-US" sz="1800" b="1" dirty="0">
                <a:solidFill>
                  <a:srgbClr val="14503C"/>
                </a:solidFill>
                <a:latin typeface="Calibri" pitchFamily="34" charset="0"/>
                <a:ea typeface="Calibri" pitchFamily="34" charset="-122"/>
                <a:cs typeface="Calibri" pitchFamily="34" charset="-120"/>
              </a:rPr>
              <a:t>Our solution</a:t>
            </a:r>
            <a:endParaRPr lang="en-US" sz="1800" dirty="0"/>
          </a:p>
          <a:p>
            <a:pPr indent="0" marL="0">
              <a:buNone/>
            </a:pPr>
            <a:r>
              <a:rPr lang="en-US" sz="1800" dirty="0">
                <a:solidFill>
                  <a:srgbClr val="12271F"/>
                </a:solidFill>
                <a:latin typeface="Calibri" pitchFamily="34" charset="0"/>
                <a:ea typeface="Calibri" pitchFamily="34" charset="-122"/>
                <a:cs typeface="Calibri" pitchFamily="34" charset="-120"/>
              </a:rPr>
              <a:t>A JSON REST API. Each expense has a title, amount, category and date. Data is saved in a local JSON file, so there is no database to set up.</a:t>
            </a:r>
            <a:endParaRPr lang="en-US" sz="1800" dirty="0"/>
          </a:p>
        </p:txBody>
      </p:sp>
      <p:sp>
        <p:nvSpPr>
          <p:cNvPr id="4" name="Shape 2"/>
          <p:cNvSpPr/>
          <p:nvPr/>
        </p:nvSpPr>
        <p:spPr>
          <a:xfrm>
            <a:off x="6400800" y="1554480"/>
            <a:ext cx="2423160" cy="192024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629400" y="1783080"/>
            <a:ext cx="384048" cy="384048"/>
          </a:xfrm>
          <a:prstGeom prst="rect">
            <a:avLst/>
          </a:prstGeom>
        </p:spPr>
      </p:pic>
      <p:sp>
        <p:nvSpPr>
          <p:cNvPr id="6" name="Text 3"/>
          <p:cNvSpPr txBox="1"/>
          <p:nvPr/>
        </p:nvSpPr>
        <p:spPr>
          <a:xfrm>
            <a:off x="6629400" y="2194560"/>
            <a:ext cx="2011680" cy="731520"/>
          </a:xfrm>
          <a:prstGeom prst="rect">
            <a:avLst/>
          </a:prstGeom>
          <a:noFill/>
          <a:ln/>
        </p:spPr>
        <p:txBody>
          <a:bodyPr wrap="square" lIns="0" tIns="0" rIns="0" bIns="0" rtlCol="0" anchor="ctr"/>
          <a:lstStyle/>
          <a:p>
            <a:pPr indent="0" marL="0">
              <a:buNone/>
            </a:pPr>
            <a:r>
              <a:rPr lang="en-US" sz="4000" b="1" dirty="0">
                <a:solidFill>
                  <a:srgbClr val="0B2E24"/>
                </a:solidFill>
                <a:latin typeface="Cambria" pitchFamily="34" charset="0"/>
                <a:ea typeface="Cambria" pitchFamily="34" charset="-122"/>
                <a:cs typeface="Cambria" pitchFamily="34" charset="-120"/>
              </a:rPr>
              <a:t>9</a:t>
            </a:r>
            <a:endParaRPr lang="en-US" sz="4000" dirty="0"/>
          </a:p>
        </p:txBody>
      </p:sp>
      <p:sp>
        <p:nvSpPr>
          <p:cNvPr id="7" name="Text 4"/>
          <p:cNvSpPr txBox="1"/>
          <p:nvPr/>
        </p:nvSpPr>
        <p:spPr>
          <a:xfrm>
            <a:off x="6629400" y="2926080"/>
            <a:ext cx="2011680" cy="365760"/>
          </a:xfrm>
          <a:prstGeom prst="rect">
            <a:avLst/>
          </a:prstGeom>
          <a:noFill/>
          <a:ln/>
        </p:spPr>
        <p:txBody>
          <a:bodyPr wrap="square" lIns="0" tIns="0" rIns="0" bIns="0" rtlCol="0" anchor="ctr"/>
          <a:lstStyle/>
          <a:p>
            <a:pPr indent="0" marL="0">
              <a:buNone/>
            </a:pPr>
            <a:r>
              <a:rPr lang="en-US" sz="1400" dirty="0">
                <a:solidFill>
                  <a:srgbClr val="5B7268"/>
                </a:solidFill>
                <a:latin typeface="Calibri" pitchFamily="34" charset="0"/>
                <a:ea typeface="Calibri" pitchFamily="34" charset="-122"/>
                <a:cs typeface="Calibri" pitchFamily="34" charset="-120"/>
              </a:rPr>
              <a:t>endpoints</a:t>
            </a:r>
            <a:endParaRPr lang="en-US" sz="1400" dirty="0"/>
          </a:p>
        </p:txBody>
      </p:sp>
      <p:sp>
        <p:nvSpPr>
          <p:cNvPr id="8" name="Shape 5"/>
          <p:cNvSpPr/>
          <p:nvPr/>
        </p:nvSpPr>
        <p:spPr>
          <a:xfrm>
            <a:off x="9052560" y="1554480"/>
            <a:ext cx="2423160" cy="192024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9281160" y="1783080"/>
            <a:ext cx="384048" cy="384048"/>
          </a:xfrm>
          <a:prstGeom prst="rect">
            <a:avLst/>
          </a:prstGeom>
        </p:spPr>
      </p:pic>
      <p:sp>
        <p:nvSpPr>
          <p:cNvPr id="10" name="Text 6"/>
          <p:cNvSpPr txBox="1"/>
          <p:nvPr/>
        </p:nvSpPr>
        <p:spPr>
          <a:xfrm>
            <a:off x="9281160" y="2194560"/>
            <a:ext cx="2011680" cy="731520"/>
          </a:xfrm>
          <a:prstGeom prst="rect">
            <a:avLst/>
          </a:prstGeom>
          <a:noFill/>
          <a:ln/>
        </p:spPr>
        <p:txBody>
          <a:bodyPr wrap="square" lIns="0" tIns="0" rIns="0" bIns="0" rtlCol="0" anchor="ctr"/>
          <a:lstStyle/>
          <a:p>
            <a:pPr indent="0" marL="0">
              <a:buNone/>
            </a:pPr>
            <a:r>
              <a:rPr lang="en-US" sz="4000" b="1" dirty="0">
                <a:solidFill>
                  <a:srgbClr val="0B2E24"/>
                </a:solidFill>
                <a:latin typeface="Cambria" pitchFamily="34" charset="0"/>
                <a:ea typeface="Cambria" pitchFamily="34" charset="-122"/>
                <a:cs typeface="Cambria" pitchFamily="34" charset="-120"/>
              </a:rPr>
              <a:t>9</a:t>
            </a:r>
            <a:endParaRPr lang="en-US" sz="4000" dirty="0"/>
          </a:p>
        </p:txBody>
      </p:sp>
      <p:sp>
        <p:nvSpPr>
          <p:cNvPr id="11" name="Text 7"/>
          <p:cNvSpPr txBox="1"/>
          <p:nvPr/>
        </p:nvSpPr>
        <p:spPr>
          <a:xfrm>
            <a:off x="9281160" y="2926080"/>
            <a:ext cx="2011680" cy="365760"/>
          </a:xfrm>
          <a:prstGeom prst="rect">
            <a:avLst/>
          </a:prstGeom>
          <a:noFill/>
          <a:ln/>
        </p:spPr>
        <p:txBody>
          <a:bodyPr wrap="square" lIns="0" tIns="0" rIns="0" bIns="0" rtlCol="0" anchor="ctr"/>
          <a:lstStyle/>
          <a:p>
            <a:pPr indent="0" marL="0">
              <a:buNone/>
            </a:pPr>
            <a:r>
              <a:rPr lang="en-US" sz="1400" dirty="0">
                <a:solidFill>
                  <a:srgbClr val="5B7268"/>
                </a:solidFill>
                <a:latin typeface="Calibri" pitchFamily="34" charset="0"/>
                <a:ea typeface="Calibri" pitchFamily="34" charset="-122"/>
                <a:cs typeface="Calibri" pitchFamily="34" charset="-120"/>
              </a:rPr>
              <a:t>expense categories</a:t>
            </a:r>
            <a:endParaRPr lang="en-US" sz="1400" dirty="0"/>
          </a:p>
        </p:txBody>
      </p:sp>
      <p:sp>
        <p:nvSpPr>
          <p:cNvPr id="12" name="Shape 8"/>
          <p:cNvSpPr/>
          <p:nvPr/>
        </p:nvSpPr>
        <p:spPr>
          <a:xfrm>
            <a:off x="6400800" y="3703320"/>
            <a:ext cx="2423160" cy="192024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629400" y="3931920"/>
            <a:ext cx="384048" cy="384048"/>
          </a:xfrm>
          <a:prstGeom prst="rect">
            <a:avLst/>
          </a:prstGeom>
        </p:spPr>
      </p:pic>
      <p:sp>
        <p:nvSpPr>
          <p:cNvPr id="14" name="Text 9"/>
          <p:cNvSpPr txBox="1"/>
          <p:nvPr/>
        </p:nvSpPr>
        <p:spPr>
          <a:xfrm>
            <a:off x="6629400" y="4343400"/>
            <a:ext cx="2011680" cy="731520"/>
          </a:xfrm>
          <a:prstGeom prst="rect">
            <a:avLst/>
          </a:prstGeom>
          <a:noFill/>
          <a:ln/>
        </p:spPr>
        <p:txBody>
          <a:bodyPr wrap="square" lIns="0" tIns="0" rIns="0" bIns="0" rtlCol="0" anchor="ctr"/>
          <a:lstStyle/>
          <a:p>
            <a:pPr indent="0" marL="0">
              <a:buNone/>
            </a:pPr>
            <a:r>
              <a:rPr lang="en-US" sz="4000" b="1" dirty="0">
                <a:solidFill>
                  <a:srgbClr val="0B2E24"/>
                </a:solidFill>
                <a:latin typeface="Cambria" pitchFamily="34" charset="0"/>
                <a:ea typeface="Cambria" pitchFamily="34" charset="-122"/>
                <a:cs typeface="Cambria" pitchFamily="34" charset="-120"/>
              </a:rPr>
              <a:t>15/15</a:t>
            </a:r>
            <a:endParaRPr lang="en-US" sz="4000" dirty="0"/>
          </a:p>
        </p:txBody>
      </p:sp>
      <p:sp>
        <p:nvSpPr>
          <p:cNvPr id="15" name="Text 10"/>
          <p:cNvSpPr txBox="1"/>
          <p:nvPr/>
        </p:nvSpPr>
        <p:spPr>
          <a:xfrm>
            <a:off x="6629400" y="5074920"/>
            <a:ext cx="2011680" cy="365760"/>
          </a:xfrm>
          <a:prstGeom prst="rect">
            <a:avLst/>
          </a:prstGeom>
          <a:noFill/>
          <a:ln/>
        </p:spPr>
        <p:txBody>
          <a:bodyPr wrap="square" lIns="0" tIns="0" rIns="0" bIns="0" rtlCol="0" anchor="ctr"/>
          <a:lstStyle/>
          <a:p>
            <a:pPr indent="0" marL="0">
              <a:buNone/>
            </a:pPr>
            <a:r>
              <a:rPr lang="en-US" sz="1400" dirty="0">
                <a:solidFill>
                  <a:srgbClr val="5B7268"/>
                </a:solidFill>
                <a:latin typeface="Calibri" pitchFamily="34" charset="0"/>
                <a:ea typeface="Calibri" pitchFamily="34" charset="-122"/>
                <a:cs typeface="Calibri" pitchFamily="34" charset="-120"/>
              </a:rPr>
              <a:t>automated tests pass</a:t>
            </a:r>
            <a:endParaRPr lang="en-US" sz="1400" dirty="0"/>
          </a:p>
        </p:txBody>
      </p:sp>
      <p:sp>
        <p:nvSpPr>
          <p:cNvPr id="16" name="Shape 11"/>
          <p:cNvSpPr/>
          <p:nvPr/>
        </p:nvSpPr>
        <p:spPr>
          <a:xfrm>
            <a:off x="9052560" y="3703320"/>
            <a:ext cx="2423160" cy="1920240"/>
          </a:xfrm>
          <a:prstGeom prst="roundRect">
            <a:avLst>
              <a:gd name="adj" fmla="val 5714"/>
            </a:avLst>
          </a:prstGeom>
          <a:solidFill>
            <a:srgbClr val="FFFFFF"/>
          </a:solidFill>
          <a:ln/>
          <a:effectLst>
            <a:outerShdw sx="100000" sy="100000" kx="0" ky="0" algn="bl" rotWithShape="0" blurRad="101600" dist="25400" dir="54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9281160" y="3931920"/>
            <a:ext cx="384048" cy="384048"/>
          </a:xfrm>
          <a:prstGeom prst="rect">
            <a:avLst/>
          </a:prstGeom>
        </p:spPr>
      </p:pic>
      <p:sp>
        <p:nvSpPr>
          <p:cNvPr id="18" name="Text 12"/>
          <p:cNvSpPr txBox="1"/>
          <p:nvPr/>
        </p:nvSpPr>
        <p:spPr>
          <a:xfrm>
            <a:off x="9281160" y="4343400"/>
            <a:ext cx="2011680" cy="731520"/>
          </a:xfrm>
          <a:prstGeom prst="rect">
            <a:avLst/>
          </a:prstGeom>
          <a:noFill/>
          <a:ln/>
        </p:spPr>
        <p:txBody>
          <a:bodyPr wrap="square" lIns="0" tIns="0" rIns="0" bIns="0" rtlCol="0" anchor="ctr"/>
          <a:lstStyle/>
          <a:p>
            <a:pPr indent="0" marL="0">
              <a:buNone/>
            </a:pPr>
            <a:r>
              <a:rPr lang="en-US" sz="4000" b="1" dirty="0">
                <a:solidFill>
                  <a:srgbClr val="0B2E24"/>
                </a:solidFill>
                <a:latin typeface="Cambria" pitchFamily="34" charset="0"/>
                <a:ea typeface="Cambria" pitchFamily="34" charset="-122"/>
                <a:cs typeface="Cambria" pitchFamily="34" charset="-120"/>
              </a:rPr>
              <a:t>13</a:t>
            </a:r>
            <a:endParaRPr lang="en-US" sz="4000" dirty="0"/>
          </a:p>
        </p:txBody>
      </p:sp>
      <p:sp>
        <p:nvSpPr>
          <p:cNvPr id="19" name="Text 13"/>
          <p:cNvSpPr txBox="1"/>
          <p:nvPr/>
        </p:nvSpPr>
        <p:spPr>
          <a:xfrm>
            <a:off x="9281160" y="5074920"/>
            <a:ext cx="2011680" cy="365760"/>
          </a:xfrm>
          <a:prstGeom prst="rect">
            <a:avLst/>
          </a:prstGeom>
          <a:noFill/>
          <a:ln/>
        </p:spPr>
        <p:txBody>
          <a:bodyPr wrap="square" lIns="0" tIns="0" rIns="0" bIns="0" rtlCol="0" anchor="ctr"/>
          <a:lstStyle/>
          <a:p>
            <a:pPr indent="0" marL="0">
              <a:buNone/>
            </a:pPr>
            <a:r>
              <a:rPr lang="en-US" sz="1400" dirty="0">
                <a:solidFill>
                  <a:srgbClr val="5B7268"/>
                </a:solidFill>
                <a:latin typeface="Calibri" pitchFamily="34" charset="0"/>
                <a:ea typeface="Calibri" pitchFamily="34" charset="-122"/>
                <a:cs typeface="Calibri" pitchFamily="34" charset="-120"/>
              </a:rPr>
              <a:t>team members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How a request flows</a:t>
            </a:r>
            <a:endParaRPr lang="en-US" sz="3800" dirty="0"/>
          </a:p>
        </p:txBody>
      </p:sp>
      <p:sp>
        <p:nvSpPr>
          <p:cNvPr id="3" name="Shape 1"/>
          <p:cNvSpPr/>
          <p:nvPr/>
        </p:nvSpPr>
        <p:spPr>
          <a:xfrm>
            <a:off x="493776" y="1828800"/>
            <a:ext cx="1874520" cy="2286000"/>
          </a:xfrm>
          <a:prstGeom prst="roundRect">
            <a:avLst>
              <a:gd name="adj" fmla="val 5854"/>
            </a:avLst>
          </a:prstGeom>
          <a:solidFill>
            <a:srgbClr val="F4F8F6"/>
          </a:solidFill>
          <a:ln w="12700">
            <a:solidFill>
              <a:srgbClr val="D5E3DC"/>
            </a:solidFill>
            <a:prstDash val="solid"/>
          </a:ln>
        </p:spPr>
      </p:sp>
      <p:sp>
        <p:nvSpPr>
          <p:cNvPr id="4" name="Shape 2"/>
          <p:cNvSpPr/>
          <p:nvPr/>
        </p:nvSpPr>
        <p:spPr>
          <a:xfrm>
            <a:off x="1065276" y="2103120"/>
            <a:ext cx="731520" cy="731520"/>
          </a:xfrm>
          <a:prstGeom prst="ellipse">
            <a:avLst/>
          </a:prstGeom>
          <a:solidFill>
            <a:srgbClr val="14503C"/>
          </a:solidFill>
          <a:ln/>
        </p:spPr>
      </p:sp>
      <p:pic>
        <p:nvPicPr>
          <p:cNvPr id="5" name="Image 0" descr="preencoded.png">    </p:cNvPr>
          <p:cNvPicPr>
            <a:picLocks noChangeAspect="1"/>
          </p:cNvPicPr>
          <p:nvPr/>
        </p:nvPicPr>
        <p:blipFill>
          <a:blip r:embed="rId1"/>
          <a:stretch>
            <a:fillRect/>
          </a:stretch>
        </p:blipFill>
        <p:spPr>
          <a:xfrm>
            <a:off x="1248156" y="2286000"/>
            <a:ext cx="365760" cy="365760"/>
          </a:xfrm>
          <a:prstGeom prst="rect">
            <a:avLst/>
          </a:prstGeom>
        </p:spPr>
      </p:pic>
      <p:sp>
        <p:nvSpPr>
          <p:cNvPr id="6" name="Text 3"/>
          <p:cNvSpPr txBox="1"/>
          <p:nvPr/>
        </p:nvSpPr>
        <p:spPr>
          <a:xfrm>
            <a:off x="493776" y="3017520"/>
            <a:ext cx="1874520" cy="411480"/>
          </a:xfrm>
          <a:prstGeom prst="rect">
            <a:avLst/>
          </a:prstGeom>
          <a:noFill/>
          <a:ln/>
        </p:spPr>
        <p:txBody>
          <a:bodyPr wrap="square" lIns="0" tIns="0" rIns="0" bIns="0" rtlCol="0" anchor="ctr"/>
          <a:lstStyle/>
          <a:p>
            <a:pPr algn="ctr" indent="0" marL="0">
              <a:buNone/>
            </a:pPr>
            <a:r>
              <a:rPr lang="en-US" sz="2000" b="1" dirty="0">
                <a:solidFill>
                  <a:srgbClr val="0B2E24"/>
                </a:solidFill>
                <a:latin typeface="Cambria" pitchFamily="34" charset="0"/>
                <a:ea typeface="Cambria" pitchFamily="34" charset="-122"/>
                <a:cs typeface="Cambria" pitchFamily="34" charset="-120"/>
              </a:rPr>
              <a:t>Client</a:t>
            </a:r>
            <a:endParaRPr lang="en-US" sz="2000" dirty="0"/>
          </a:p>
        </p:txBody>
      </p:sp>
      <p:sp>
        <p:nvSpPr>
          <p:cNvPr id="7" name="Text 4"/>
          <p:cNvSpPr txBox="1"/>
          <p:nvPr/>
        </p:nvSpPr>
        <p:spPr>
          <a:xfrm>
            <a:off x="539496" y="3474720"/>
            <a:ext cx="1783080" cy="365760"/>
          </a:xfrm>
          <a:prstGeom prst="rect">
            <a:avLst/>
          </a:prstGeom>
          <a:noFill/>
          <a:ln/>
        </p:spPr>
        <p:txBody>
          <a:bodyPr wrap="square" lIns="0" tIns="0" rIns="0" bIns="0" rtlCol="0" anchor="ctr"/>
          <a:lstStyle/>
          <a:p>
            <a:pPr algn="ctr" indent="0" marL="0">
              <a:buNone/>
            </a:pPr>
            <a:r>
              <a:rPr lang="en-US" sz="1100" dirty="0">
                <a:solidFill>
                  <a:srgbClr val="5B7268"/>
                </a:solidFill>
                <a:latin typeface="Courier New" pitchFamily="34" charset="0"/>
                <a:ea typeface="Courier New" pitchFamily="34" charset="-122"/>
                <a:cs typeface="Courier New" pitchFamily="34" charset="-120"/>
              </a:rPr>
              <a:t>Postman / curl</a:t>
            </a:r>
            <a:endParaRPr lang="en-US" sz="1100" dirty="0"/>
          </a:p>
        </p:txBody>
      </p:sp>
      <p:sp>
        <p:nvSpPr>
          <p:cNvPr id="8" name="Text 5"/>
          <p:cNvSpPr txBox="1"/>
          <p:nvPr/>
        </p:nvSpPr>
        <p:spPr>
          <a:xfrm>
            <a:off x="2368296" y="2651760"/>
            <a:ext cx="457200" cy="548640"/>
          </a:xfrm>
          <a:prstGeom prst="rect">
            <a:avLst/>
          </a:prstGeom>
          <a:noFill/>
          <a:ln/>
        </p:spPr>
        <p:txBody>
          <a:bodyPr wrap="square" lIns="0" tIns="0" rIns="0" bIns="0" rtlCol="0" anchor="ctr"/>
          <a:lstStyle/>
          <a:p>
            <a:pPr algn="ctr" indent="0" marL="0">
              <a:buNone/>
            </a:pPr>
            <a:r>
              <a:rPr lang="en-US" sz="2800" b="1" dirty="0">
                <a:solidFill>
                  <a:srgbClr val="F5B841"/>
                </a:solidFill>
                <a:latin typeface="Calibri" pitchFamily="34" charset="0"/>
                <a:ea typeface="Calibri" pitchFamily="34" charset="-122"/>
                <a:cs typeface="Calibri" pitchFamily="34" charset="-120"/>
              </a:rPr>
              <a:t>→</a:t>
            </a:r>
            <a:endParaRPr lang="en-US" sz="2800" dirty="0"/>
          </a:p>
        </p:txBody>
      </p:sp>
      <p:sp>
        <p:nvSpPr>
          <p:cNvPr id="9" name="Shape 6"/>
          <p:cNvSpPr/>
          <p:nvPr/>
        </p:nvSpPr>
        <p:spPr>
          <a:xfrm>
            <a:off x="2825496" y="1828800"/>
            <a:ext cx="1874520" cy="2286000"/>
          </a:xfrm>
          <a:prstGeom prst="roundRect">
            <a:avLst>
              <a:gd name="adj" fmla="val 5854"/>
            </a:avLst>
          </a:prstGeom>
          <a:solidFill>
            <a:srgbClr val="F4F8F6"/>
          </a:solidFill>
          <a:ln w="12700">
            <a:solidFill>
              <a:srgbClr val="D5E3DC"/>
            </a:solidFill>
            <a:prstDash val="solid"/>
          </a:ln>
        </p:spPr>
      </p:sp>
      <p:sp>
        <p:nvSpPr>
          <p:cNvPr id="10" name="Shape 7"/>
          <p:cNvSpPr/>
          <p:nvPr/>
        </p:nvSpPr>
        <p:spPr>
          <a:xfrm>
            <a:off x="3396996" y="2103120"/>
            <a:ext cx="731520" cy="731520"/>
          </a:xfrm>
          <a:prstGeom prst="ellipse">
            <a:avLst/>
          </a:prstGeom>
          <a:solidFill>
            <a:srgbClr val="14503C"/>
          </a:solidFill>
          <a:ln/>
        </p:spPr>
      </p:sp>
      <p:pic>
        <p:nvPicPr>
          <p:cNvPr id="11" name="Image 1" descr="preencoded.png">    </p:cNvPr>
          <p:cNvPicPr>
            <a:picLocks noChangeAspect="1"/>
          </p:cNvPicPr>
          <p:nvPr/>
        </p:nvPicPr>
        <p:blipFill>
          <a:blip r:embed="rId2"/>
          <a:stretch>
            <a:fillRect/>
          </a:stretch>
        </p:blipFill>
        <p:spPr>
          <a:xfrm>
            <a:off x="3579876" y="2286000"/>
            <a:ext cx="365760" cy="365760"/>
          </a:xfrm>
          <a:prstGeom prst="rect">
            <a:avLst/>
          </a:prstGeom>
        </p:spPr>
      </p:pic>
      <p:sp>
        <p:nvSpPr>
          <p:cNvPr id="12" name="Text 8"/>
          <p:cNvSpPr txBox="1"/>
          <p:nvPr/>
        </p:nvSpPr>
        <p:spPr>
          <a:xfrm>
            <a:off x="2825496" y="3017520"/>
            <a:ext cx="1874520" cy="411480"/>
          </a:xfrm>
          <a:prstGeom prst="rect">
            <a:avLst/>
          </a:prstGeom>
          <a:noFill/>
          <a:ln/>
        </p:spPr>
        <p:txBody>
          <a:bodyPr wrap="square" lIns="0" tIns="0" rIns="0" bIns="0" rtlCol="0" anchor="ctr"/>
          <a:lstStyle/>
          <a:p>
            <a:pPr algn="ctr" indent="0" marL="0">
              <a:buNone/>
            </a:pPr>
            <a:r>
              <a:rPr lang="en-US" sz="2000" b="1" dirty="0">
                <a:solidFill>
                  <a:srgbClr val="0B2E24"/>
                </a:solidFill>
                <a:latin typeface="Cambria" pitchFamily="34" charset="0"/>
                <a:ea typeface="Cambria" pitchFamily="34" charset="-122"/>
                <a:cs typeface="Cambria" pitchFamily="34" charset="-120"/>
              </a:rPr>
              <a:t>Routes</a:t>
            </a:r>
            <a:endParaRPr lang="en-US" sz="2000" dirty="0"/>
          </a:p>
        </p:txBody>
      </p:sp>
      <p:sp>
        <p:nvSpPr>
          <p:cNvPr id="13" name="Text 9"/>
          <p:cNvSpPr txBox="1"/>
          <p:nvPr/>
        </p:nvSpPr>
        <p:spPr>
          <a:xfrm>
            <a:off x="2871216" y="3474720"/>
            <a:ext cx="1783080" cy="365760"/>
          </a:xfrm>
          <a:prstGeom prst="rect">
            <a:avLst/>
          </a:prstGeom>
          <a:noFill/>
          <a:ln/>
        </p:spPr>
        <p:txBody>
          <a:bodyPr wrap="square" lIns="0" tIns="0" rIns="0" bIns="0" rtlCol="0" anchor="ctr"/>
          <a:lstStyle/>
          <a:p>
            <a:pPr algn="ctr" indent="0" marL="0">
              <a:buNone/>
            </a:pPr>
            <a:r>
              <a:rPr lang="en-US" sz="1100" dirty="0">
                <a:solidFill>
                  <a:srgbClr val="5B7268"/>
                </a:solidFill>
                <a:latin typeface="Courier New" pitchFamily="34" charset="0"/>
                <a:ea typeface="Courier New" pitchFamily="34" charset="-122"/>
                <a:cs typeface="Courier New" pitchFamily="34" charset="-120"/>
              </a:rPr>
              <a:t>expenseRoutes.js</a:t>
            </a:r>
            <a:endParaRPr lang="en-US" sz="1100" dirty="0"/>
          </a:p>
        </p:txBody>
      </p:sp>
      <p:sp>
        <p:nvSpPr>
          <p:cNvPr id="14" name="Text 10"/>
          <p:cNvSpPr txBox="1"/>
          <p:nvPr/>
        </p:nvSpPr>
        <p:spPr>
          <a:xfrm>
            <a:off x="4700016" y="2651760"/>
            <a:ext cx="457200" cy="548640"/>
          </a:xfrm>
          <a:prstGeom prst="rect">
            <a:avLst/>
          </a:prstGeom>
          <a:noFill/>
          <a:ln/>
        </p:spPr>
        <p:txBody>
          <a:bodyPr wrap="square" lIns="0" tIns="0" rIns="0" bIns="0" rtlCol="0" anchor="ctr"/>
          <a:lstStyle/>
          <a:p>
            <a:pPr algn="ctr" indent="0" marL="0">
              <a:buNone/>
            </a:pPr>
            <a:r>
              <a:rPr lang="en-US" sz="2800" b="1" dirty="0">
                <a:solidFill>
                  <a:srgbClr val="F5B841"/>
                </a:solidFill>
                <a:latin typeface="Calibri" pitchFamily="34" charset="0"/>
                <a:ea typeface="Calibri" pitchFamily="34" charset="-122"/>
                <a:cs typeface="Calibri" pitchFamily="34" charset="-120"/>
              </a:rPr>
              <a:t>→</a:t>
            </a:r>
            <a:endParaRPr lang="en-US" sz="2800" dirty="0"/>
          </a:p>
        </p:txBody>
      </p:sp>
      <p:sp>
        <p:nvSpPr>
          <p:cNvPr id="15" name="Shape 11"/>
          <p:cNvSpPr/>
          <p:nvPr/>
        </p:nvSpPr>
        <p:spPr>
          <a:xfrm>
            <a:off x="5157216" y="1828800"/>
            <a:ext cx="1874520" cy="2286000"/>
          </a:xfrm>
          <a:prstGeom prst="roundRect">
            <a:avLst>
              <a:gd name="adj" fmla="val 5854"/>
            </a:avLst>
          </a:prstGeom>
          <a:solidFill>
            <a:srgbClr val="F4F8F6"/>
          </a:solidFill>
          <a:ln w="12700">
            <a:solidFill>
              <a:srgbClr val="D5E3DC"/>
            </a:solidFill>
            <a:prstDash val="solid"/>
          </a:ln>
        </p:spPr>
      </p:sp>
      <p:sp>
        <p:nvSpPr>
          <p:cNvPr id="16" name="Shape 12"/>
          <p:cNvSpPr/>
          <p:nvPr/>
        </p:nvSpPr>
        <p:spPr>
          <a:xfrm>
            <a:off x="5728716" y="2103120"/>
            <a:ext cx="731520" cy="731520"/>
          </a:xfrm>
          <a:prstGeom prst="ellipse">
            <a:avLst/>
          </a:prstGeom>
          <a:solidFill>
            <a:srgbClr val="14503C"/>
          </a:solidFill>
          <a:ln/>
        </p:spPr>
      </p:sp>
      <p:pic>
        <p:nvPicPr>
          <p:cNvPr id="17" name="Image 2" descr="preencoded.png">    </p:cNvPr>
          <p:cNvPicPr>
            <a:picLocks noChangeAspect="1"/>
          </p:cNvPicPr>
          <p:nvPr/>
        </p:nvPicPr>
        <p:blipFill>
          <a:blip r:embed="rId3"/>
          <a:stretch>
            <a:fillRect/>
          </a:stretch>
        </p:blipFill>
        <p:spPr>
          <a:xfrm>
            <a:off x="5911596" y="2286000"/>
            <a:ext cx="365760" cy="365760"/>
          </a:xfrm>
          <a:prstGeom prst="rect">
            <a:avLst/>
          </a:prstGeom>
        </p:spPr>
      </p:pic>
      <p:sp>
        <p:nvSpPr>
          <p:cNvPr id="18" name="Text 13"/>
          <p:cNvSpPr txBox="1"/>
          <p:nvPr/>
        </p:nvSpPr>
        <p:spPr>
          <a:xfrm>
            <a:off x="5157216" y="3017520"/>
            <a:ext cx="1874520" cy="411480"/>
          </a:xfrm>
          <a:prstGeom prst="rect">
            <a:avLst/>
          </a:prstGeom>
          <a:noFill/>
          <a:ln/>
        </p:spPr>
        <p:txBody>
          <a:bodyPr wrap="square" lIns="0" tIns="0" rIns="0" bIns="0" rtlCol="0" anchor="ctr"/>
          <a:lstStyle/>
          <a:p>
            <a:pPr algn="ctr" indent="0" marL="0">
              <a:buNone/>
            </a:pPr>
            <a:r>
              <a:rPr lang="en-US" sz="2000" b="1" dirty="0">
                <a:solidFill>
                  <a:srgbClr val="0B2E24"/>
                </a:solidFill>
                <a:latin typeface="Cambria" pitchFamily="34" charset="0"/>
                <a:ea typeface="Cambria" pitchFamily="34" charset="-122"/>
                <a:cs typeface="Cambria" pitchFamily="34" charset="-120"/>
              </a:rPr>
              <a:t>Validation</a:t>
            </a:r>
            <a:endParaRPr lang="en-US" sz="2000" dirty="0"/>
          </a:p>
        </p:txBody>
      </p:sp>
      <p:sp>
        <p:nvSpPr>
          <p:cNvPr id="19" name="Text 14"/>
          <p:cNvSpPr txBox="1"/>
          <p:nvPr/>
        </p:nvSpPr>
        <p:spPr>
          <a:xfrm>
            <a:off x="5202936" y="3474720"/>
            <a:ext cx="1783080" cy="365760"/>
          </a:xfrm>
          <a:prstGeom prst="rect">
            <a:avLst/>
          </a:prstGeom>
          <a:noFill/>
          <a:ln/>
        </p:spPr>
        <p:txBody>
          <a:bodyPr wrap="square" lIns="0" tIns="0" rIns="0" bIns="0" rtlCol="0" anchor="ctr"/>
          <a:lstStyle/>
          <a:p>
            <a:pPr algn="ctr" indent="0" marL="0">
              <a:buNone/>
            </a:pPr>
            <a:r>
              <a:rPr lang="en-US" sz="1100" dirty="0">
                <a:solidFill>
                  <a:srgbClr val="5B7268"/>
                </a:solidFill>
                <a:latin typeface="Courier New" pitchFamily="34" charset="0"/>
                <a:ea typeface="Courier New" pitchFamily="34" charset="-122"/>
                <a:cs typeface="Courier New" pitchFamily="34" charset="-120"/>
              </a:rPr>
              <a:t>validateExpense.js</a:t>
            </a:r>
            <a:endParaRPr lang="en-US" sz="1100" dirty="0"/>
          </a:p>
        </p:txBody>
      </p:sp>
      <p:sp>
        <p:nvSpPr>
          <p:cNvPr id="20" name="Text 15"/>
          <p:cNvSpPr txBox="1"/>
          <p:nvPr/>
        </p:nvSpPr>
        <p:spPr>
          <a:xfrm>
            <a:off x="7031736" y="2651760"/>
            <a:ext cx="457200" cy="548640"/>
          </a:xfrm>
          <a:prstGeom prst="rect">
            <a:avLst/>
          </a:prstGeom>
          <a:noFill/>
          <a:ln/>
        </p:spPr>
        <p:txBody>
          <a:bodyPr wrap="square" lIns="0" tIns="0" rIns="0" bIns="0" rtlCol="0" anchor="ctr"/>
          <a:lstStyle/>
          <a:p>
            <a:pPr algn="ctr" indent="0" marL="0">
              <a:buNone/>
            </a:pPr>
            <a:r>
              <a:rPr lang="en-US" sz="2800" b="1" dirty="0">
                <a:solidFill>
                  <a:srgbClr val="F5B841"/>
                </a:solidFill>
                <a:latin typeface="Calibri" pitchFamily="34" charset="0"/>
                <a:ea typeface="Calibri" pitchFamily="34" charset="-122"/>
                <a:cs typeface="Calibri" pitchFamily="34" charset="-120"/>
              </a:rPr>
              <a:t>→</a:t>
            </a:r>
            <a:endParaRPr lang="en-US" sz="2800" dirty="0"/>
          </a:p>
        </p:txBody>
      </p:sp>
      <p:sp>
        <p:nvSpPr>
          <p:cNvPr id="21" name="Shape 16"/>
          <p:cNvSpPr/>
          <p:nvPr/>
        </p:nvSpPr>
        <p:spPr>
          <a:xfrm>
            <a:off x="7488936" y="1828800"/>
            <a:ext cx="1874520" cy="2286000"/>
          </a:xfrm>
          <a:prstGeom prst="roundRect">
            <a:avLst>
              <a:gd name="adj" fmla="val 5854"/>
            </a:avLst>
          </a:prstGeom>
          <a:solidFill>
            <a:srgbClr val="0B2E24"/>
          </a:solidFill>
          <a:ln w="12700">
            <a:solidFill>
              <a:srgbClr val="D5E3DC"/>
            </a:solidFill>
            <a:prstDash val="solid"/>
          </a:ln>
        </p:spPr>
      </p:sp>
      <p:sp>
        <p:nvSpPr>
          <p:cNvPr id="22" name="Shape 17"/>
          <p:cNvSpPr/>
          <p:nvPr/>
        </p:nvSpPr>
        <p:spPr>
          <a:xfrm>
            <a:off x="8060436" y="2103120"/>
            <a:ext cx="731520" cy="731520"/>
          </a:xfrm>
          <a:prstGeom prst="ellipse">
            <a:avLst/>
          </a:prstGeom>
          <a:solidFill>
            <a:srgbClr val="3DDC97"/>
          </a:solidFill>
          <a:ln/>
        </p:spPr>
      </p:sp>
      <p:pic>
        <p:nvPicPr>
          <p:cNvPr id="23" name="Image 3" descr="preencoded.png">    </p:cNvPr>
          <p:cNvPicPr>
            <a:picLocks noChangeAspect="1"/>
          </p:cNvPicPr>
          <p:nvPr/>
        </p:nvPicPr>
        <p:blipFill>
          <a:blip r:embed="rId4"/>
          <a:stretch>
            <a:fillRect/>
          </a:stretch>
        </p:blipFill>
        <p:spPr>
          <a:xfrm>
            <a:off x="8243316" y="2286000"/>
            <a:ext cx="365760" cy="365760"/>
          </a:xfrm>
          <a:prstGeom prst="rect">
            <a:avLst/>
          </a:prstGeom>
        </p:spPr>
      </p:pic>
      <p:sp>
        <p:nvSpPr>
          <p:cNvPr id="24" name="Text 18"/>
          <p:cNvSpPr txBox="1"/>
          <p:nvPr/>
        </p:nvSpPr>
        <p:spPr>
          <a:xfrm>
            <a:off x="7488936" y="3017520"/>
            <a:ext cx="187452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Controller</a:t>
            </a:r>
            <a:endParaRPr lang="en-US" sz="2000" dirty="0"/>
          </a:p>
        </p:txBody>
      </p:sp>
      <p:sp>
        <p:nvSpPr>
          <p:cNvPr id="25" name="Text 19"/>
          <p:cNvSpPr txBox="1"/>
          <p:nvPr/>
        </p:nvSpPr>
        <p:spPr>
          <a:xfrm>
            <a:off x="7534656" y="3474720"/>
            <a:ext cx="1783080" cy="365760"/>
          </a:xfrm>
          <a:prstGeom prst="rect">
            <a:avLst/>
          </a:prstGeom>
          <a:noFill/>
          <a:ln/>
        </p:spPr>
        <p:txBody>
          <a:bodyPr wrap="square" lIns="0" tIns="0" rIns="0" bIns="0" rtlCol="0" anchor="ctr"/>
          <a:lstStyle/>
          <a:p>
            <a:pPr algn="ctr" indent="0" marL="0">
              <a:buNone/>
            </a:pPr>
            <a:r>
              <a:rPr lang="en-US" sz="1100" dirty="0">
                <a:solidFill>
                  <a:srgbClr val="3DDC97"/>
                </a:solidFill>
                <a:latin typeface="Courier New" pitchFamily="34" charset="0"/>
                <a:ea typeface="Courier New" pitchFamily="34" charset="-122"/>
                <a:cs typeface="Courier New" pitchFamily="34" charset="-120"/>
              </a:rPr>
              <a:t>expenseController.js</a:t>
            </a:r>
            <a:endParaRPr lang="en-US" sz="1100" dirty="0"/>
          </a:p>
        </p:txBody>
      </p:sp>
      <p:sp>
        <p:nvSpPr>
          <p:cNvPr id="26" name="Text 20"/>
          <p:cNvSpPr txBox="1"/>
          <p:nvPr/>
        </p:nvSpPr>
        <p:spPr>
          <a:xfrm>
            <a:off x="9363456" y="2651760"/>
            <a:ext cx="457200" cy="548640"/>
          </a:xfrm>
          <a:prstGeom prst="rect">
            <a:avLst/>
          </a:prstGeom>
          <a:noFill/>
          <a:ln/>
        </p:spPr>
        <p:txBody>
          <a:bodyPr wrap="square" lIns="0" tIns="0" rIns="0" bIns="0" rtlCol="0" anchor="ctr"/>
          <a:lstStyle/>
          <a:p>
            <a:pPr algn="ctr" indent="0" marL="0">
              <a:buNone/>
            </a:pPr>
            <a:r>
              <a:rPr lang="en-US" sz="2800" b="1" dirty="0">
                <a:solidFill>
                  <a:srgbClr val="F5B841"/>
                </a:solidFill>
                <a:latin typeface="Calibri" pitchFamily="34" charset="0"/>
                <a:ea typeface="Calibri" pitchFamily="34" charset="-122"/>
                <a:cs typeface="Calibri" pitchFamily="34" charset="-120"/>
              </a:rPr>
              <a:t>→</a:t>
            </a:r>
            <a:endParaRPr lang="en-US" sz="2800" dirty="0"/>
          </a:p>
        </p:txBody>
      </p:sp>
      <p:sp>
        <p:nvSpPr>
          <p:cNvPr id="27" name="Shape 21"/>
          <p:cNvSpPr/>
          <p:nvPr/>
        </p:nvSpPr>
        <p:spPr>
          <a:xfrm>
            <a:off x="9820656" y="1828800"/>
            <a:ext cx="1874520" cy="2286000"/>
          </a:xfrm>
          <a:prstGeom prst="roundRect">
            <a:avLst>
              <a:gd name="adj" fmla="val 5854"/>
            </a:avLst>
          </a:prstGeom>
          <a:solidFill>
            <a:srgbClr val="F4F8F6"/>
          </a:solidFill>
          <a:ln w="12700">
            <a:solidFill>
              <a:srgbClr val="D5E3DC"/>
            </a:solidFill>
            <a:prstDash val="solid"/>
          </a:ln>
        </p:spPr>
      </p:sp>
      <p:sp>
        <p:nvSpPr>
          <p:cNvPr id="28" name="Shape 22"/>
          <p:cNvSpPr/>
          <p:nvPr/>
        </p:nvSpPr>
        <p:spPr>
          <a:xfrm>
            <a:off x="10392156" y="2103120"/>
            <a:ext cx="731520" cy="731520"/>
          </a:xfrm>
          <a:prstGeom prst="ellipse">
            <a:avLst/>
          </a:prstGeom>
          <a:solidFill>
            <a:srgbClr val="14503C"/>
          </a:solidFill>
          <a:ln/>
        </p:spPr>
      </p:sp>
      <p:pic>
        <p:nvPicPr>
          <p:cNvPr id="29" name="Image 4" descr="preencoded.png">    </p:cNvPr>
          <p:cNvPicPr>
            <a:picLocks noChangeAspect="1"/>
          </p:cNvPicPr>
          <p:nvPr/>
        </p:nvPicPr>
        <p:blipFill>
          <a:blip r:embed="rId5"/>
          <a:stretch>
            <a:fillRect/>
          </a:stretch>
        </p:blipFill>
        <p:spPr>
          <a:xfrm>
            <a:off x="10575036" y="2286000"/>
            <a:ext cx="365760" cy="365760"/>
          </a:xfrm>
          <a:prstGeom prst="rect">
            <a:avLst/>
          </a:prstGeom>
        </p:spPr>
      </p:pic>
      <p:sp>
        <p:nvSpPr>
          <p:cNvPr id="30" name="Text 23"/>
          <p:cNvSpPr txBox="1"/>
          <p:nvPr/>
        </p:nvSpPr>
        <p:spPr>
          <a:xfrm>
            <a:off x="9820656" y="3017520"/>
            <a:ext cx="1874520" cy="411480"/>
          </a:xfrm>
          <a:prstGeom prst="rect">
            <a:avLst/>
          </a:prstGeom>
          <a:noFill/>
          <a:ln/>
        </p:spPr>
        <p:txBody>
          <a:bodyPr wrap="square" lIns="0" tIns="0" rIns="0" bIns="0" rtlCol="0" anchor="ctr"/>
          <a:lstStyle/>
          <a:p>
            <a:pPr algn="ctr" indent="0" marL="0">
              <a:buNone/>
            </a:pPr>
            <a:r>
              <a:rPr lang="en-US" sz="2000" b="1" dirty="0">
                <a:solidFill>
                  <a:srgbClr val="0B2E24"/>
                </a:solidFill>
                <a:latin typeface="Cambria" pitchFamily="34" charset="0"/>
                <a:ea typeface="Cambria" pitchFamily="34" charset="-122"/>
                <a:cs typeface="Cambria" pitchFamily="34" charset="-120"/>
              </a:rPr>
              <a:t>Data store</a:t>
            </a:r>
            <a:endParaRPr lang="en-US" sz="2000" dirty="0"/>
          </a:p>
        </p:txBody>
      </p:sp>
      <p:sp>
        <p:nvSpPr>
          <p:cNvPr id="31" name="Text 24"/>
          <p:cNvSpPr txBox="1"/>
          <p:nvPr/>
        </p:nvSpPr>
        <p:spPr>
          <a:xfrm>
            <a:off x="9866376" y="3474720"/>
            <a:ext cx="1783080" cy="365760"/>
          </a:xfrm>
          <a:prstGeom prst="rect">
            <a:avLst/>
          </a:prstGeom>
          <a:noFill/>
          <a:ln/>
        </p:spPr>
        <p:txBody>
          <a:bodyPr wrap="square" lIns="0" tIns="0" rIns="0" bIns="0" rtlCol="0" anchor="ctr"/>
          <a:lstStyle/>
          <a:p>
            <a:pPr algn="ctr" indent="0" marL="0">
              <a:buNone/>
            </a:pPr>
            <a:r>
              <a:rPr lang="en-US" sz="1100" dirty="0">
                <a:solidFill>
                  <a:srgbClr val="5B7268"/>
                </a:solidFill>
                <a:latin typeface="Courier New" pitchFamily="34" charset="0"/>
                <a:ea typeface="Courier New" pitchFamily="34" charset="-122"/>
                <a:cs typeface="Courier New" pitchFamily="34" charset="-120"/>
              </a:rPr>
              <a:t>db.js + express.json</a:t>
            </a:r>
            <a:endParaRPr lang="en-US" sz="1100" dirty="0"/>
          </a:p>
        </p:txBody>
      </p:sp>
      <p:sp>
        <p:nvSpPr>
          <p:cNvPr id="32" name="Text 25"/>
          <p:cNvSpPr txBox="1"/>
          <p:nvPr/>
        </p:nvSpPr>
        <p:spPr>
          <a:xfrm>
            <a:off x="640080" y="4892040"/>
            <a:ext cx="10908792" cy="457200"/>
          </a:xfrm>
          <a:prstGeom prst="rect">
            <a:avLst/>
          </a:prstGeom>
          <a:noFill/>
          <a:ln/>
        </p:spPr>
        <p:txBody>
          <a:bodyPr wrap="square" lIns="0" tIns="0" rIns="0" bIns="0" rtlCol="0" anchor="ctr"/>
          <a:lstStyle/>
          <a:p>
            <a:pPr algn="ctr" indent="0" marL="0">
              <a:buNone/>
            </a:pPr>
            <a:r>
              <a:rPr lang="en-US" sz="1600" dirty="0">
                <a:solidFill>
                  <a:srgbClr val="5B7268"/>
                </a:solidFill>
                <a:latin typeface="Calibri" pitchFamily="34" charset="0"/>
                <a:ea typeface="Calibri" pitchFamily="34" charset="-122"/>
                <a:cs typeface="Calibri" pitchFamily="34" charset="-120"/>
              </a:rPr>
              <a:t>Every response is JSON with a "success" flag. Unknown routes and bad JSON are caught by errorHandlers.js.</a:t>
            </a:r>
            <a:endParaRPr lang="en-US" sz="1600" dirty="0"/>
          </a:p>
        </p:txBody>
      </p:sp>
      <p:sp>
        <p:nvSpPr>
          <p:cNvPr id="33" name="Text 26"/>
          <p:cNvSpPr txBox="1"/>
          <p:nvPr/>
        </p:nvSpPr>
        <p:spPr>
          <a:xfrm>
            <a:off x="640080" y="5669280"/>
            <a:ext cx="10908792" cy="365760"/>
          </a:xfrm>
          <a:prstGeom prst="rect">
            <a:avLst/>
          </a:prstGeom>
          <a:noFill/>
          <a:ln/>
        </p:spPr>
        <p:txBody>
          <a:bodyPr wrap="square" lIns="0" tIns="0" rIns="0" bIns="0" rtlCol="0" anchor="ctr"/>
          <a:lstStyle/>
          <a:p>
            <a:pPr algn="ctr" indent="0" marL="0">
              <a:buNone/>
            </a:pPr>
            <a:r>
              <a:rPr lang="en-US" sz="1400" b="1" dirty="0">
                <a:solidFill>
                  <a:srgbClr val="14503C"/>
                </a:solidFill>
                <a:latin typeface="Calibri" pitchFamily="34" charset="0"/>
                <a:ea typeface="Calibri" pitchFamily="34" charset="-122"/>
                <a:cs typeface="Calibri" pitchFamily="34" charset="-120"/>
              </a:rPr>
              <a:t>Built with Node.js  •  Express 5  •  cors  •  morgan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CRUD operations</a:t>
            </a:r>
            <a:endParaRPr lang="en-US" sz="3800" dirty="0"/>
          </a:p>
        </p:txBody>
      </p:sp>
      <p:sp>
        <p:nvSpPr>
          <p:cNvPr id="3" name="Shape 1"/>
          <p:cNvSpPr/>
          <p:nvPr/>
        </p:nvSpPr>
        <p:spPr>
          <a:xfrm>
            <a:off x="640080" y="1554480"/>
            <a:ext cx="5212080" cy="2103120"/>
          </a:xfrm>
          <a:prstGeom prst="roundRect">
            <a:avLst>
              <a:gd name="adj" fmla="val 5217"/>
            </a:avLst>
          </a:prstGeom>
          <a:solidFill>
            <a:srgbClr val="0F3B2D"/>
          </a:solidFill>
          <a:ln w="12700">
            <a:solidFill>
              <a:srgbClr val="14503C"/>
            </a:solidFill>
            <a:prstDash val="solid"/>
          </a:ln>
        </p:spPr>
      </p:sp>
      <p:sp>
        <p:nvSpPr>
          <p:cNvPr id="4" name="Shape 2"/>
          <p:cNvSpPr/>
          <p:nvPr/>
        </p:nvSpPr>
        <p:spPr>
          <a:xfrm>
            <a:off x="914400" y="1874520"/>
            <a:ext cx="1005840" cy="1005840"/>
          </a:xfrm>
          <a:prstGeom prst="ellipse">
            <a:avLst/>
          </a:prstGeom>
          <a:solidFill>
            <a:srgbClr val="F5B841"/>
          </a:solidFill>
          <a:ln/>
        </p:spPr>
      </p:sp>
      <p:sp>
        <p:nvSpPr>
          <p:cNvPr id="5" name="Text 3"/>
          <p:cNvSpPr txBox="1"/>
          <p:nvPr/>
        </p:nvSpPr>
        <p:spPr>
          <a:xfrm>
            <a:off x="914400" y="1874520"/>
            <a:ext cx="1005840" cy="1005840"/>
          </a:xfrm>
          <a:prstGeom prst="rect">
            <a:avLst/>
          </a:prstGeom>
          <a:noFill/>
          <a:ln/>
        </p:spPr>
        <p:txBody>
          <a:bodyPr wrap="square" lIns="0" tIns="0" rIns="0" bIns="0" rtlCol="0" anchor="ctr"/>
          <a:lstStyle/>
          <a:p>
            <a:pPr algn="ctr" indent="0" marL="0">
              <a:buNone/>
            </a:pPr>
            <a:r>
              <a:rPr lang="en-US" sz="4400" b="1" dirty="0">
                <a:solidFill>
                  <a:srgbClr val="0B2E24"/>
                </a:solidFill>
                <a:latin typeface="Cambria" pitchFamily="34" charset="0"/>
                <a:ea typeface="Cambria" pitchFamily="34" charset="-122"/>
                <a:cs typeface="Cambria" pitchFamily="34" charset="-120"/>
              </a:rPr>
              <a:t>C</a:t>
            </a:r>
            <a:endParaRPr lang="en-US" sz="4400" dirty="0"/>
          </a:p>
        </p:txBody>
      </p:sp>
      <p:sp>
        <p:nvSpPr>
          <p:cNvPr id="6" name="Text 4"/>
          <p:cNvSpPr txBox="1"/>
          <p:nvPr/>
        </p:nvSpPr>
        <p:spPr>
          <a:xfrm>
            <a:off x="2194560" y="1828800"/>
            <a:ext cx="3383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Create</a:t>
            </a:r>
            <a:endParaRPr lang="en-US" sz="2400" dirty="0"/>
          </a:p>
        </p:txBody>
      </p:sp>
      <p:sp>
        <p:nvSpPr>
          <p:cNvPr id="7" name="Text 5"/>
          <p:cNvSpPr txBox="1"/>
          <p:nvPr/>
        </p:nvSpPr>
        <p:spPr>
          <a:xfrm>
            <a:off x="2194560" y="2331720"/>
            <a:ext cx="3383280" cy="365760"/>
          </a:xfrm>
          <a:prstGeom prst="rect">
            <a:avLst/>
          </a:prstGeom>
          <a:noFill/>
          <a:ln/>
        </p:spPr>
        <p:txBody>
          <a:bodyPr wrap="square" lIns="0" tIns="0" rIns="0" bIns="0" rtlCol="0" anchor="ctr"/>
          <a:lstStyle/>
          <a:p>
            <a:pPr indent="0" marL="0">
              <a:buNone/>
            </a:pPr>
            <a:r>
              <a:rPr lang="en-US" sz="1600" b="1" dirty="0">
                <a:solidFill>
                  <a:srgbClr val="3DDC97"/>
                </a:solidFill>
                <a:latin typeface="Courier New" pitchFamily="34" charset="0"/>
                <a:ea typeface="Courier New" pitchFamily="34" charset="-122"/>
                <a:cs typeface="Courier New" pitchFamily="34" charset="-120"/>
              </a:rPr>
              <a:t>POST</a:t>
            </a:r>
            <a:endParaRPr lang="en-US" sz="1600" dirty="0"/>
          </a:p>
        </p:txBody>
      </p:sp>
      <p:sp>
        <p:nvSpPr>
          <p:cNvPr id="8" name="Text 6"/>
          <p:cNvSpPr txBox="1"/>
          <p:nvPr/>
        </p:nvSpPr>
        <p:spPr>
          <a:xfrm>
            <a:off x="914400" y="3017520"/>
            <a:ext cx="4754880" cy="274320"/>
          </a:xfrm>
          <a:prstGeom prst="rect">
            <a:avLst/>
          </a:prstGeom>
          <a:noFill/>
          <a:ln/>
        </p:spPr>
        <p:txBody>
          <a:bodyPr wrap="square" lIns="0" tIns="0" rIns="0" bIns="0" rtlCol="0" anchor="ctr"/>
          <a:lstStyle/>
          <a:p>
            <a:pPr indent="0" marL="0">
              <a:buNone/>
            </a:pPr>
            <a:r>
              <a:rPr lang="en-US" sz="1200" dirty="0">
                <a:solidFill>
                  <a:srgbClr val="CFE6DB"/>
                </a:solidFill>
                <a:latin typeface="Courier New" pitchFamily="34" charset="0"/>
                <a:ea typeface="Courier New" pitchFamily="34" charset="-122"/>
                <a:cs typeface="Courier New" pitchFamily="34" charset="-120"/>
              </a:rPr>
              <a:t>/api/expenses</a:t>
            </a:r>
            <a:endParaRPr lang="en-US" sz="1200" dirty="0"/>
          </a:p>
        </p:txBody>
      </p:sp>
      <p:sp>
        <p:nvSpPr>
          <p:cNvPr id="9" name="Text 7"/>
          <p:cNvSpPr txBox="1"/>
          <p:nvPr/>
        </p:nvSpPr>
        <p:spPr>
          <a:xfrm>
            <a:off x="2194560" y="2651760"/>
            <a:ext cx="3383280" cy="320040"/>
          </a:xfrm>
          <a:prstGeom prst="rect">
            <a:avLst/>
          </a:prstGeom>
          <a:noFill/>
          <a:ln/>
        </p:spPr>
        <p:txBody>
          <a:bodyPr wrap="square" lIns="0" tIns="0" rIns="0" bIns="0" rtlCol="0" anchor="ctr"/>
          <a:lstStyle/>
          <a:p>
            <a:pPr indent="0" marL="0">
              <a:buNone/>
            </a:pPr>
            <a:r>
              <a:rPr lang="en-US" sz="1300" dirty="0">
                <a:solidFill>
                  <a:srgbClr val="CFE6DB"/>
                </a:solidFill>
                <a:latin typeface="Calibri" pitchFamily="34" charset="0"/>
                <a:ea typeface="Calibri" pitchFamily="34" charset="-122"/>
                <a:cs typeface="Calibri" pitchFamily="34" charset="-120"/>
              </a:rPr>
              <a:t>Returns 201 Created</a:t>
            </a:r>
            <a:endParaRPr lang="en-US" sz="1300" dirty="0"/>
          </a:p>
        </p:txBody>
      </p:sp>
      <p:sp>
        <p:nvSpPr>
          <p:cNvPr id="10" name="Shape 8"/>
          <p:cNvSpPr/>
          <p:nvPr/>
        </p:nvSpPr>
        <p:spPr>
          <a:xfrm>
            <a:off x="6126480" y="1554480"/>
            <a:ext cx="5212080" cy="2103120"/>
          </a:xfrm>
          <a:prstGeom prst="roundRect">
            <a:avLst>
              <a:gd name="adj" fmla="val 5217"/>
            </a:avLst>
          </a:prstGeom>
          <a:solidFill>
            <a:srgbClr val="0F3B2D"/>
          </a:solidFill>
          <a:ln w="12700">
            <a:solidFill>
              <a:srgbClr val="14503C"/>
            </a:solidFill>
            <a:prstDash val="solid"/>
          </a:ln>
        </p:spPr>
      </p:sp>
      <p:sp>
        <p:nvSpPr>
          <p:cNvPr id="11" name="Shape 9"/>
          <p:cNvSpPr/>
          <p:nvPr/>
        </p:nvSpPr>
        <p:spPr>
          <a:xfrm>
            <a:off x="6400800" y="1874520"/>
            <a:ext cx="1005840" cy="1005840"/>
          </a:xfrm>
          <a:prstGeom prst="ellipse">
            <a:avLst/>
          </a:prstGeom>
          <a:solidFill>
            <a:srgbClr val="F5B841"/>
          </a:solidFill>
          <a:ln/>
        </p:spPr>
      </p:sp>
      <p:sp>
        <p:nvSpPr>
          <p:cNvPr id="12" name="Text 10"/>
          <p:cNvSpPr txBox="1"/>
          <p:nvPr/>
        </p:nvSpPr>
        <p:spPr>
          <a:xfrm>
            <a:off x="6400800" y="1874520"/>
            <a:ext cx="1005840" cy="1005840"/>
          </a:xfrm>
          <a:prstGeom prst="rect">
            <a:avLst/>
          </a:prstGeom>
          <a:noFill/>
          <a:ln/>
        </p:spPr>
        <p:txBody>
          <a:bodyPr wrap="square" lIns="0" tIns="0" rIns="0" bIns="0" rtlCol="0" anchor="ctr"/>
          <a:lstStyle/>
          <a:p>
            <a:pPr algn="ctr" indent="0" marL="0">
              <a:buNone/>
            </a:pPr>
            <a:r>
              <a:rPr lang="en-US" sz="4400" b="1" dirty="0">
                <a:solidFill>
                  <a:srgbClr val="0B2E24"/>
                </a:solidFill>
                <a:latin typeface="Cambria" pitchFamily="34" charset="0"/>
                <a:ea typeface="Cambria" pitchFamily="34" charset="-122"/>
                <a:cs typeface="Cambria" pitchFamily="34" charset="-120"/>
              </a:rPr>
              <a:t>R</a:t>
            </a:r>
            <a:endParaRPr lang="en-US" sz="4400" dirty="0"/>
          </a:p>
        </p:txBody>
      </p:sp>
      <p:sp>
        <p:nvSpPr>
          <p:cNvPr id="13" name="Text 11"/>
          <p:cNvSpPr txBox="1"/>
          <p:nvPr/>
        </p:nvSpPr>
        <p:spPr>
          <a:xfrm>
            <a:off x="7680960" y="1828800"/>
            <a:ext cx="3383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4" name="Text 12"/>
          <p:cNvSpPr txBox="1"/>
          <p:nvPr/>
        </p:nvSpPr>
        <p:spPr>
          <a:xfrm>
            <a:off x="7680960" y="2331720"/>
            <a:ext cx="3383280" cy="365760"/>
          </a:xfrm>
          <a:prstGeom prst="rect">
            <a:avLst/>
          </a:prstGeom>
          <a:noFill/>
          <a:ln/>
        </p:spPr>
        <p:txBody>
          <a:bodyPr wrap="square" lIns="0" tIns="0" rIns="0" bIns="0" rtlCol="0" anchor="ctr"/>
          <a:lstStyle/>
          <a:p>
            <a:pPr indent="0" marL="0">
              <a:buNone/>
            </a:pPr>
            <a:r>
              <a:rPr lang="en-US" sz="1600" b="1" dirty="0">
                <a:solidFill>
                  <a:srgbClr val="3DDC97"/>
                </a:solidFill>
                <a:latin typeface="Courier New" pitchFamily="34" charset="0"/>
                <a:ea typeface="Courier New" pitchFamily="34" charset="-122"/>
                <a:cs typeface="Courier New" pitchFamily="34" charset="-120"/>
              </a:rPr>
              <a:t>GET</a:t>
            </a:r>
            <a:endParaRPr lang="en-US" sz="1600" dirty="0"/>
          </a:p>
        </p:txBody>
      </p:sp>
      <p:sp>
        <p:nvSpPr>
          <p:cNvPr id="15" name="Text 13"/>
          <p:cNvSpPr txBox="1"/>
          <p:nvPr/>
        </p:nvSpPr>
        <p:spPr>
          <a:xfrm>
            <a:off x="6400800" y="3017520"/>
            <a:ext cx="4754880" cy="274320"/>
          </a:xfrm>
          <a:prstGeom prst="rect">
            <a:avLst/>
          </a:prstGeom>
          <a:noFill/>
          <a:ln/>
        </p:spPr>
        <p:txBody>
          <a:bodyPr wrap="square" lIns="0" tIns="0" rIns="0" bIns="0" rtlCol="0" anchor="ctr"/>
          <a:lstStyle/>
          <a:p>
            <a:pPr indent="0" marL="0">
              <a:buNone/>
            </a:pPr>
            <a:r>
              <a:rPr lang="en-US" sz="1200" dirty="0">
                <a:solidFill>
                  <a:srgbClr val="CFE6DB"/>
                </a:solidFill>
                <a:latin typeface="Courier New" pitchFamily="34" charset="0"/>
                <a:ea typeface="Courier New" pitchFamily="34" charset="-122"/>
                <a:cs typeface="Courier New" pitchFamily="34" charset="-120"/>
              </a:rPr>
              <a:t>/api/expenses  and  /api/expenses/:id</a:t>
            </a:r>
            <a:endParaRPr lang="en-US" sz="1200" dirty="0"/>
          </a:p>
        </p:txBody>
      </p:sp>
      <p:sp>
        <p:nvSpPr>
          <p:cNvPr id="16" name="Text 14"/>
          <p:cNvSpPr txBox="1"/>
          <p:nvPr/>
        </p:nvSpPr>
        <p:spPr>
          <a:xfrm>
            <a:off x="7680960" y="2651760"/>
            <a:ext cx="3383280" cy="320040"/>
          </a:xfrm>
          <a:prstGeom prst="rect">
            <a:avLst/>
          </a:prstGeom>
          <a:noFill/>
          <a:ln/>
        </p:spPr>
        <p:txBody>
          <a:bodyPr wrap="square" lIns="0" tIns="0" rIns="0" bIns="0" rtlCol="0" anchor="ctr"/>
          <a:lstStyle/>
          <a:p>
            <a:pPr indent="0" marL="0">
              <a:buNone/>
            </a:pPr>
            <a:r>
              <a:rPr lang="en-US" sz="1300" dirty="0">
                <a:solidFill>
                  <a:srgbClr val="CFE6DB"/>
                </a:solidFill>
                <a:latin typeface="Calibri" pitchFamily="34" charset="0"/>
                <a:ea typeface="Calibri" pitchFamily="34" charset="-122"/>
                <a:cs typeface="Calibri" pitchFamily="34" charset="-120"/>
              </a:rPr>
              <a:t>List all, or fetch one</a:t>
            </a:r>
            <a:endParaRPr lang="en-US" sz="1300" dirty="0"/>
          </a:p>
        </p:txBody>
      </p:sp>
      <p:sp>
        <p:nvSpPr>
          <p:cNvPr id="17" name="Shape 15"/>
          <p:cNvSpPr/>
          <p:nvPr/>
        </p:nvSpPr>
        <p:spPr>
          <a:xfrm>
            <a:off x="640080" y="3931920"/>
            <a:ext cx="5212080" cy="2103120"/>
          </a:xfrm>
          <a:prstGeom prst="roundRect">
            <a:avLst>
              <a:gd name="adj" fmla="val 5217"/>
            </a:avLst>
          </a:prstGeom>
          <a:solidFill>
            <a:srgbClr val="0F3B2D"/>
          </a:solidFill>
          <a:ln w="12700">
            <a:solidFill>
              <a:srgbClr val="14503C"/>
            </a:solidFill>
            <a:prstDash val="solid"/>
          </a:ln>
        </p:spPr>
      </p:sp>
      <p:sp>
        <p:nvSpPr>
          <p:cNvPr id="18" name="Shape 16"/>
          <p:cNvSpPr/>
          <p:nvPr/>
        </p:nvSpPr>
        <p:spPr>
          <a:xfrm>
            <a:off x="914400" y="4251960"/>
            <a:ext cx="1005840" cy="1005840"/>
          </a:xfrm>
          <a:prstGeom prst="ellipse">
            <a:avLst/>
          </a:prstGeom>
          <a:solidFill>
            <a:srgbClr val="F5B841"/>
          </a:solidFill>
          <a:ln/>
        </p:spPr>
      </p:sp>
      <p:sp>
        <p:nvSpPr>
          <p:cNvPr id="19" name="Text 17"/>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4400" b="1" dirty="0">
                <a:solidFill>
                  <a:srgbClr val="0B2E24"/>
                </a:solidFill>
                <a:latin typeface="Cambria" pitchFamily="34" charset="0"/>
                <a:ea typeface="Cambria" pitchFamily="34" charset="-122"/>
                <a:cs typeface="Cambria" pitchFamily="34" charset="-120"/>
              </a:rPr>
              <a:t>U</a:t>
            </a:r>
            <a:endParaRPr lang="en-US" sz="4400" dirty="0"/>
          </a:p>
        </p:txBody>
      </p:sp>
      <p:sp>
        <p:nvSpPr>
          <p:cNvPr id="20" name="Text 18"/>
          <p:cNvSpPr txBox="1"/>
          <p:nvPr/>
        </p:nvSpPr>
        <p:spPr>
          <a:xfrm>
            <a:off x="2194560" y="4206240"/>
            <a:ext cx="3383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Update</a:t>
            </a:r>
            <a:endParaRPr lang="en-US" sz="2400" dirty="0"/>
          </a:p>
        </p:txBody>
      </p:sp>
      <p:sp>
        <p:nvSpPr>
          <p:cNvPr id="21" name="Text 19"/>
          <p:cNvSpPr txBox="1"/>
          <p:nvPr/>
        </p:nvSpPr>
        <p:spPr>
          <a:xfrm>
            <a:off x="2194560" y="4709160"/>
            <a:ext cx="3383280" cy="365760"/>
          </a:xfrm>
          <a:prstGeom prst="rect">
            <a:avLst/>
          </a:prstGeom>
          <a:noFill/>
          <a:ln/>
        </p:spPr>
        <p:txBody>
          <a:bodyPr wrap="square" lIns="0" tIns="0" rIns="0" bIns="0" rtlCol="0" anchor="ctr"/>
          <a:lstStyle/>
          <a:p>
            <a:pPr indent="0" marL="0">
              <a:buNone/>
            </a:pPr>
            <a:r>
              <a:rPr lang="en-US" sz="1600" b="1" dirty="0">
                <a:solidFill>
                  <a:srgbClr val="3DDC97"/>
                </a:solidFill>
                <a:latin typeface="Courier New" pitchFamily="34" charset="0"/>
                <a:ea typeface="Courier New" pitchFamily="34" charset="-122"/>
                <a:cs typeface="Courier New" pitchFamily="34" charset="-120"/>
              </a:rPr>
              <a:t>PUT / PATCH</a:t>
            </a:r>
            <a:endParaRPr lang="en-US" sz="1600" dirty="0"/>
          </a:p>
        </p:txBody>
      </p:sp>
      <p:sp>
        <p:nvSpPr>
          <p:cNvPr id="22" name="Text 20"/>
          <p:cNvSpPr txBox="1"/>
          <p:nvPr/>
        </p:nvSpPr>
        <p:spPr>
          <a:xfrm>
            <a:off x="914400" y="5394960"/>
            <a:ext cx="4754880" cy="274320"/>
          </a:xfrm>
          <a:prstGeom prst="rect">
            <a:avLst/>
          </a:prstGeom>
          <a:noFill/>
          <a:ln/>
        </p:spPr>
        <p:txBody>
          <a:bodyPr wrap="square" lIns="0" tIns="0" rIns="0" bIns="0" rtlCol="0" anchor="ctr"/>
          <a:lstStyle/>
          <a:p>
            <a:pPr indent="0" marL="0">
              <a:buNone/>
            </a:pPr>
            <a:r>
              <a:rPr lang="en-US" sz="1200" dirty="0">
                <a:solidFill>
                  <a:srgbClr val="CFE6DB"/>
                </a:solidFill>
                <a:latin typeface="Courier New" pitchFamily="34" charset="0"/>
                <a:ea typeface="Courier New" pitchFamily="34" charset="-122"/>
                <a:cs typeface="Courier New" pitchFamily="34" charset="-120"/>
              </a:rPr>
              <a:t>/api/expenses/:id</a:t>
            </a:r>
            <a:endParaRPr lang="en-US" sz="1200" dirty="0"/>
          </a:p>
        </p:txBody>
      </p:sp>
      <p:sp>
        <p:nvSpPr>
          <p:cNvPr id="23" name="Text 21"/>
          <p:cNvSpPr txBox="1"/>
          <p:nvPr/>
        </p:nvSpPr>
        <p:spPr>
          <a:xfrm>
            <a:off x="2194560" y="5029200"/>
            <a:ext cx="3383280" cy="320040"/>
          </a:xfrm>
          <a:prstGeom prst="rect">
            <a:avLst/>
          </a:prstGeom>
          <a:noFill/>
          <a:ln/>
        </p:spPr>
        <p:txBody>
          <a:bodyPr wrap="square" lIns="0" tIns="0" rIns="0" bIns="0" rtlCol="0" anchor="ctr"/>
          <a:lstStyle/>
          <a:p>
            <a:pPr indent="0" marL="0">
              <a:buNone/>
            </a:pPr>
            <a:r>
              <a:rPr lang="en-US" sz="1300" dirty="0">
                <a:solidFill>
                  <a:srgbClr val="CFE6DB"/>
                </a:solidFill>
                <a:latin typeface="Calibri" pitchFamily="34" charset="0"/>
                <a:ea typeface="Calibri" pitchFamily="34" charset="-122"/>
                <a:cs typeface="Calibri" pitchFamily="34" charset="-120"/>
              </a:rPr>
              <a:t>Replace all, or change some fields</a:t>
            </a:r>
            <a:endParaRPr lang="en-US" sz="1300" dirty="0"/>
          </a:p>
        </p:txBody>
      </p:sp>
      <p:sp>
        <p:nvSpPr>
          <p:cNvPr id="24" name="Shape 22"/>
          <p:cNvSpPr/>
          <p:nvPr/>
        </p:nvSpPr>
        <p:spPr>
          <a:xfrm>
            <a:off x="6126480" y="3931920"/>
            <a:ext cx="5212080" cy="2103120"/>
          </a:xfrm>
          <a:prstGeom prst="roundRect">
            <a:avLst>
              <a:gd name="adj" fmla="val 5217"/>
            </a:avLst>
          </a:prstGeom>
          <a:solidFill>
            <a:srgbClr val="0F3B2D"/>
          </a:solidFill>
          <a:ln w="12700">
            <a:solidFill>
              <a:srgbClr val="14503C"/>
            </a:solidFill>
            <a:prstDash val="solid"/>
          </a:ln>
        </p:spPr>
      </p:sp>
      <p:sp>
        <p:nvSpPr>
          <p:cNvPr id="25" name="Shape 23"/>
          <p:cNvSpPr/>
          <p:nvPr/>
        </p:nvSpPr>
        <p:spPr>
          <a:xfrm>
            <a:off x="6400800" y="4251960"/>
            <a:ext cx="1005840" cy="1005840"/>
          </a:xfrm>
          <a:prstGeom prst="ellipse">
            <a:avLst/>
          </a:prstGeom>
          <a:solidFill>
            <a:srgbClr val="F5B841"/>
          </a:solidFill>
          <a:ln/>
        </p:spPr>
      </p:sp>
      <p:sp>
        <p:nvSpPr>
          <p:cNvPr id="26" name="Text 24"/>
          <p:cNvSpPr txBox="1"/>
          <p:nvPr/>
        </p:nvSpPr>
        <p:spPr>
          <a:xfrm>
            <a:off x="6400800" y="4251960"/>
            <a:ext cx="1005840" cy="1005840"/>
          </a:xfrm>
          <a:prstGeom prst="rect">
            <a:avLst/>
          </a:prstGeom>
          <a:noFill/>
          <a:ln/>
        </p:spPr>
        <p:txBody>
          <a:bodyPr wrap="square" lIns="0" tIns="0" rIns="0" bIns="0" rtlCol="0" anchor="ctr"/>
          <a:lstStyle/>
          <a:p>
            <a:pPr algn="ctr" indent="0" marL="0">
              <a:buNone/>
            </a:pPr>
            <a:r>
              <a:rPr lang="en-US" sz="4400" b="1" dirty="0">
                <a:solidFill>
                  <a:srgbClr val="0B2E24"/>
                </a:solidFill>
                <a:latin typeface="Cambria" pitchFamily="34" charset="0"/>
                <a:ea typeface="Cambria" pitchFamily="34" charset="-122"/>
                <a:cs typeface="Cambria" pitchFamily="34" charset="-120"/>
              </a:rPr>
              <a:t>D</a:t>
            </a:r>
            <a:endParaRPr lang="en-US" sz="4400" dirty="0"/>
          </a:p>
        </p:txBody>
      </p:sp>
      <p:sp>
        <p:nvSpPr>
          <p:cNvPr id="27" name="Text 25"/>
          <p:cNvSpPr txBox="1"/>
          <p:nvPr/>
        </p:nvSpPr>
        <p:spPr>
          <a:xfrm>
            <a:off x="7680960" y="4206240"/>
            <a:ext cx="3383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Delete</a:t>
            </a:r>
            <a:endParaRPr lang="en-US" sz="2400" dirty="0"/>
          </a:p>
        </p:txBody>
      </p:sp>
      <p:sp>
        <p:nvSpPr>
          <p:cNvPr id="28" name="Text 26"/>
          <p:cNvSpPr txBox="1"/>
          <p:nvPr/>
        </p:nvSpPr>
        <p:spPr>
          <a:xfrm>
            <a:off x="7680960" y="4709160"/>
            <a:ext cx="3383280" cy="365760"/>
          </a:xfrm>
          <a:prstGeom prst="rect">
            <a:avLst/>
          </a:prstGeom>
          <a:noFill/>
          <a:ln/>
        </p:spPr>
        <p:txBody>
          <a:bodyPr wrap="square" lIns="0" tIns="0" rIns="0" bIns="0" rtlCol="0" anchor="ctr"/>
          <a:lstStyle/>
          <a:p>
            <a:pPr indent="0" marL="0">
              <a:buNone/>
            </a:pPr>
            <a:r>
              <a:rPr lang="en-US" sz="1600" b="1" dirty="0">
                <a:solidFill>
                  <a:srgbClr val="3DDC97"/>
                </a:solidFill>
                <a:latin typeface="Courier New" pitchFamily="34" charset="0"/>
                <a:ea typeface="Courier New" pitchFamily="34" charset="-122"/>
                <a:cs typeface="Courier New" pitchFamily="34" charset="-120"/>
              </a:rPr>
              <a:t>DELETE</a:t>
            </a:r>
            <a:endParaRPr lang="en-US" sz="1600" dirty="0"/>
          </a:p>
        </p:txBody>
      </p:sp>
      <p:sp>
        <p:nvSpPr>
          <p:cNvPr id="29" name="Text 27"/>
          <p:cNvSpPr txBox="1"/>
          <p:nvPr/>
        </p:nvSpPr>
        <p:spPr>
          <a:xfrm>
            <a:off x="6400800" y="5394960"/>
            <a:ext cx="4754880" cy="274320"/>
          </a:xfrm>
          <a:prstGeom prst="rect">
            <a:avLst/>
          </a:prstGeom>
          <a:noFill/>
          <a:ln/>
        </p:spPr>
        <p:txBody>
          <a:bodyPr wrap="square" lIns="0" tIns="0" rIns="0" bIns="0" rtlCol="0" anchor="ctr"/>
          <a:lstStyle/>
          <a:p>
            <a:pPr indent="0" marL="0">
              <a:buNone/>
            </a:pPr>
            <a:r>
              <a:rPr lang="en-US" sz="1200" dirty="0">
                <a:solidFill>
                  <a:srgbClr val="CFE6DB"/>
                </a:solidFill>
                <a:latin typeface="Courier New" pitchFamily="34" charset="0"/>
                <a:ea typeface="Courier New" pitchFamily="34" charset="-122"/>
                <a:cs typeface="Courier New" pitchFamily="34" charset="-120"/>
              </a:rPr>
              <a:t>/api/expenses/:id</a:t>
            </a:r>
            <a:endParaRPr lang="en-US" sz="1200" dirty="0"/>
          </a:p>
        </p:txBody>
      </p:sp>
      <p:sp>
        <p:nvSpPr>
          <p:cNvPr id="30" name="Text 28"/>
          <p:cNvSpPr txBox="1"/>
          <p:nvPr/>
        </p:nvSpPr>
        <p:spPr>
          <a:xfrm>
            <a:off x="7680960" y="5029200"/>
            <a:ext cx="3383280" cy="320040"/>
          </a:xfrm>
          <a:prstGeom prst="rect">
            <a:avLst/>
          </a:prstGeom>
          <a:noFill/>
          <a:ln/>
        </p:spPr>
        <p:txBody>
          <a:bodyPr wrap="square" lIns="0" tIns="0" rIns="0" bIns="0" rtlCol="0" anchor="ctr"/>
          <a:lstStyle/>
          <a:p>
            <a:pPr indent="0" marL="0">
              <a:buNone/>
            </a:pPr>
            <a:r>
              <a:rPr lang="en-US" sz="1300" dirty="0">
                <a:solidFill>
                  <a:srgbClr val="CFE6DB"/>
                </a:solidFill>
                <a:latin typeface="Calibri" pitchFamily="34" charset="0"/>
                <a:ea typeface="Calibri" pitchFamily="34" charset="-122"/>
                <a:cs typeface="Calibri" pitchFamily="34" charset="-120"/>
              </a:rPr>
              <a:t>Removes it; 404 if not found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Beyond CRUD: find your data fast</a:t>
            </a:r>
            <a:endParaRPr lang="en-US" sz="3800" dirty="0"/>
          </a:p>
        </p:txBody>
      </p:sp>
      <p:sp>
        <p:nvSpPr>
          <p:cNvPr id="3" name="Shape 1"/>
          <p:cNvSpPr/>
          <p:nvPr/>
        </p:nvSpPr>
        <p:spPr>
          <a:xfrm>
            <a:off x="640080" y="15544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4" name="Shape 2"/>
          <p:cNvSpPr/>
          <p:nvPr/>
        </p:nvSpPr>
        <p:spPr>
          <a:xfrm>
            <a:off x="868680" y="1920240"/>
            <a:ext cx="640080" cy="640080"/>
          </a:xfrm>
          <a:prstGeom prst="ellipse">
            <a:avLst/>
          </a:prstGeom>
          <a:solidFill>
            <a:srgbClr val="14503C"/>
          </a:solidFill>
          <a:ln/>
        </p:spPr>
      </p:sp>
      <p:pic>
        <p:nvPicPr>
          <p:cNvPr id="5" name="Image 0" descr="preencoded.png">    </p:cNvPr>
          <p:cNvPicPr>
            <a:picLocks noChangeAspect="1"/>
          </p:cNvPicPr>
          <p:nvPr/>
        </p:nvPicPr>
        <p:blipFill>
          <a:blip r:embed="rId1"/>
          <a:stretch>
            <a:fillRect/>
          </a:stretch>
        </p:blipFill>
        <p:spPr>
          <a:xfrm>
            <a:off x="1024128" y="2075688"/>
            <a:ext cx="329184" cy="329184"/>
          </a:xfrm>
          <a:prstGeom prst="rect">
            <a:avLst/>
          </a:prstGeom>
        </p:spPr>
      </p:pic>
      <p:sp>
        <p:nvSpPr>
          <p:cNvPr id="6" name="Text 3"/>
          <p:cNvSpPr txBox="1"/>
          <p:nvPr/>
        </p:nvSpPr>
        <p:spPr>
          <a:xfrm>
            <a:off x="1691640" y="18288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Filter by category</a:t>
            </a:r>
            <a:endParaRPr lang="en-US" sz="1800" dirty="0"/>
          </a:p>
        </p:txBody>
      </p:sp>
      <p:sp>
        <p:nvSpPr>
          <p:cNvPr id="7" name="Text 4"/>
          <p:cNvSpPr txBox="1"/>
          <p:nvPr/>
        </p:nvSpPr>
        <p:spPr>
          <a:xfrm>
            <a:off x="1691640" y="22860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?category=Food</a:t>
            </a:r>
            <a:endParaRPr lang="en-US" sz="1200" dirty="0"/>
          </a:p>
        </p:txBody>
      </p:sp>
      <p:sp>
        <p:nvSpPr>
          <p:cNvPr id="8" name="Shape 5"/>
          <p:cNvSpPr/>
          <p:nvPr/>
        </p:nvSpPr>
        <p:spPr>
          <a:xfrm>
            <a:off x="4343400" y="15544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9" name="Shape 6"/>
          <p:cNvSpPr/>
          <p:nvPr/>
        </p:nvSpPr>
        <p:spPr>
          <a:xfrm>
            <a:off x="4572000" y="1920240"/>
            <a:ext cx="640080" cy="640080"/>
          </a:xfrm>
          <a:prstGeom prst="ellipse">
            <a:avLst/>
          </a:prstGeom>
          <a:solidFill>
            <a:srgbClr val="14503C"/>
          </a:solidFill>
          <a:ln/>
        </p:spPr>
      </p:sp>
      <p:pic>
        <p:nvPicPr>
          <p:cNvPr id="10" name="Image 1" descr="preencoded.png">    </p:cNvPr>
          <p:cNvPicPr>
            <a:picLocks noChangeAspect="1"/>
          </p:cNvPicPr>
          <p:nvPr/>
        </p:nvPicPr>
        <p:blipFill>
          <a:blip r:embed="rId2"/>
          <a:stretch>
            <a:fillRect/>
          </a:stretch>
        </p:blipFill>
        <p:spPr>
          <a:xfrm>
            <a:off x="4727448" y="2075688"/>
            <a:ext cx="329184" cy="329184"/>
          </a:xfrm>
          <a:prstGeom prst="rect">
            <a:avLst/>
          </a:prstGeom>
        </p:spPr>
      </p:pic>
      <p:sp>
        <p:nvSpPr>
          <p:cNvPr id="11" name="Text 7"/>
          <p:cNvSpPr txBox="1"/>
          <p:nvPr/>
        </p:nvSpPr>
        <p:spPr>
          <a:xfrm>
            <a:off x="5394960" y="18288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Date range</a:t>
            </a:r>
            <a:endParaRPr lang="en-US" sz="1800" dirty="0"/>
          </a:p>
        </p:txBody>
      </p:sp>
      <p:sp>
        <p:nvSpPr>
          <p:cNvPr id="12" name="Text 8"/>
          <p:cNvSpPr txBox="1"/>
          <p:nvPr/>
        </p:nvSpPr>
        <p:spPr>
          <a:xfrm>
            <a:off x="5394960" y="22860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?startDate=&amp;endDate=</a:t>
            </a:r>
            <a:endParaRPr lang="en-US" sz="1200" dirty="0"/>
          </a:p>
        </p:txBody>
      </p:sp>
      <p:sp>
        <p:nvSpPr>
          <p:cNvPr id="13" name="Shape 9"/>
          <p:cNvSpPr/>
          <p:nvPr/>
        </p:nvSpPr>
        <p:spPr>
          <a:xfrm>
            <a:off x="8046720" y="15544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14" name="Shape 10"/>
          <p:cNvSpPr/>
          <p:nvPr/>
        </p:nvSpPr>
        <p:spPr>
          <a:xfrm>
            <a:off x="8275320" y="1920240"/>
            <a:ext cx="640080" cy="640080"/>
          </a:xfrm>
          <a:prstGeom prst="ellipse">
            <a:avLst/>
          </a:prstGeom>
          <a:solidFill>
            <a:srgbClr val="14503C"/>
          </a:solidFill>
          <a:ln/>
        </p:spPr>
      </p:sp>
      <p:pic>
        <p:nvPicPr>
          <p:cNvPr id="15" name="Image 2" descr="preencoded.png">    </p:cNvPr>
          <p:cNvPicPr>
            <a:picLocks noChangeAspect="1"/>
          </p:cNvPicPr>
          <p:nvPr/>
        </p:nvPicPr>
        <p:blipFill>
          <a:blip r:embed="rId3"/>
          <a:stretch>
            <a:fillRect/>
          </a:stretch>
        </p:blipFill>
        <p:spPr>
          <a:xfrm>
            <a:off x="8430768" y="2075688"/>
            <a:ext cx="329184" cy="329184"/>
          </a:xfrm>
          <a:prstGeom prst="rect">
            <a:avLst/>
          </a:prstGeom>
        </p:spPr>
      </p:pic>
      <p:sp>
        <p:nvSpPr>
          <p:cNvPr id="16" name="Text 11"/>
          <p:cNvSpPr txBox="1"/>
          <p:nvPr/>
        </p:nvSpPr>
        <p:spPr>
          <a:xfrm>
            <a:off x="9098280" y="18288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Amount range</a:t>
            </a:r>
            <a:endParaRPr lang="en-US" sz="1800" dirty="0"/>
          </a:p>
        </p:txBody>
      </p:sp>
      <p:sp>
        <p:nvSpPr>
          <p:cNvPr id="17" name="Text 12"/>
          <p:cNvSpPr txBox="1"/>
          <p:nvPr/>
        </p:nvSpPr>
        <p:spPr>
          <a:xfrm>
            <a:off x="9098280" y="22860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?minAmount=&amp;maxAmount=</a:t>
            </a:r>
            <a:endParaRPr lang="en-US" sz="1200" dirty="0"/>
          </a:p>
        </p:txBody>
      </p:sp>
      <p:sp>
        <p:nvSpPr>
          <p:cNvPr id="18" name="Shape 13"/>
          <p:cNvSpPr/>
          <p:nvPr/>
        </p:nvSpPr>
        <p:spPr>
          <a:xfrm>
            <a:off x="640080" y="31546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19" name="Shape 14"/>
          <p:cNvSpPr/>
          <p:nvPr/>
        </p:nvSpPr>
        <p:spPr>
          <a:xfrm>
            <a:off x="868680" y="3520440"/>
            <a:ext cx="640080" cy="640080"/>
          </a:xfrm>
          <a:prstGeom prst="ellipse">
            <a:avLst/>
          </a:prstGeom>
          <a:solidFill>
            <a:srgbClr val="14503C"/>
          </a:solidFill>
          <a:ln/>
        </p:spPr>
      </p:sp>
      <p:pic>
        <p:nvPicPr>
          <p:cNvPr id="20" name="Image 3" descr="preencoded.png">    </p:cNvPr>
          <p:cNvPicPr>
            <a:picLocks noChangeAspect="1"/>
          </p:cNvPicPr>
          <p:nvPr/>
        </p:nvPicPr>
        <p:blipFill>
          <a:blip r:embed="rId4"/>
          <a:stretch>
            <a:fillRect/>
          </a:stretch>
        </p:blipFill>
        <p:spPr>
          <a:xfrm>
            <a:off x="1024128" y="3675888"/>
            <a:ext cx="329184" cy="329184"/>
          </a:xfrm>
          <a:prstGeom prst="rect">
            <a:avLst/>
          </a:prstGeom>
        </p:spPr>
      </p:pic>
      <p:sp>
        <p:nvSpPr>
          <p:cNvPr id="21" name="Text 15"/>
          <p:cNvSpPr txBox="1"/>
          <p:nvPr/>
        </p:nvSpPr>
        <p:spPr>
          <a:xfrm>
            <a:off x="1691640" y="34290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Search text</a:t>
            </a:r>
            <a:endParaRPr lang="en-US" sz="1800" dirty="0"/>
          </a:p>
        </p:txBody>
      </p:sp>
      <p:sp>
        <p:nvSpPr>
          <p:cNvPr id="22" name="Text 16"/>
          <p:cNvSpPr txBox="1"/>
          <p:nvPr/>
        </p:nvSpPr>
        <p:spPr>
          <a:xfrm>
            <a:off x="1691640" y="38862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?search=lunch</a:t>
            </a:r>
            <a:endParaRPr lang="en-US" sz="1200" dirty="0"/>
          </a:p>
        </p:txBody>
      </p:sp>
      <p:sp>
        <p:nvSpPr>
          <p:cNvPr id="23" name="Shape 17"/>
          <p:cNvSpPr/>
          <p:nvPr/>
        </p:nvSpPr>
        <p:spPr>
          <a:xfrm>
            <a:off x="4343400" y="31546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24" name="Shape 18"/>
          <p:cNvSpPr/>
          <p:nvPr/>
        </p:nvSpPr>
        <p:spPr>
          <a:xfrm>
            <a:off x="4572000" y="3520440"/>
            <a:ext cx="640080" cy="640080"/>
          </a:xfrm>
          <a:prstGeom prst="ellipse">
            <a:avLst/>
          </a:prstGeom>
          <a:solidFill>
            <a:srgbClr val="14503C"/>
          </a:solidFill>
          <a:ln/>
        </p:spPr>
      </p:sp>
      <p:pic>
        <p:nvPicPr>
          <p:cNvPr id="25" name="Image 4" descr="preencoded.png">    </p:cNvPr>
          <p:cNvPicPr>
            <a:picLocks noChangeAspect="1"/>
          </p:cNvPicPr>
          <p:nvPr/>
        </p:nvPicPr>
        <p:blipFill>
          <a:blip r:embed="rId5"/>
          <a:stretch>
            <a:fillRect/>
          </a:stretch>
        </p:blipFill>
        <p:spPr>
          <a:xfrm>
            <a:off x="4727448" y="3675888"/>
            <a:ext cx="329184" cy="329184"/>
          </a:xfrm>
          <a:prstGeom prst="rect">
            <a:avLst/>
          </a:prstGeom>
        </p:spPr>
      </p:pic>
      <p:sp>
        <p:nvSpPr>
          <p:cNvPr id="26" name="Text 19"/>
          <p:cNvSpPr txBox="1"/>
          <p:nvPr/>
        </p:nvSpPr>
        <p:spPr>
          <a:xfrm>
            <a:off x="5394960" y="34290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Sort</a:t>
            </a:r>
            <a:endParaRPr lang="en-US" sz="1800" dirty="0"/>
          </a:p>
        </p:txBody>
      </p:sp>
      <p:sp>
        <p:nvSpPr>
          <p:cNvPr id="27" name="Text 20"/>
          <p:cNvSpPr txBox="1"/>
          <p:nvPr/>
        </p:nvSpPr>
        <p:spPr>
          <a:xfrm>
            <a:off x="5394960" y="38862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?sort=-amount</a:t>
            </a:r>
            <a:endParaRPr lang="en-US" sz="1200" dirty="0"/>
          </a:p>
        </p:txBody>
      </p:sp>
      <p:sp>
        <p:nvSpPr>
          <p:cNvPr id="28" name="Shape 21"/>
          <p:cNvSpPr/>
          <p:nvPr/>
        </p:nvSpPr>
        <p:spPr>
          <a:xfrm>
            <a:off x="8046720" y="3154680"/>
            <a:ext cx="3474720" cy="137160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29" name="Shape 22"/>
          <p:cNvSpPr/>
          <p:nvPr/>
        </p:nvSpPr>
        <p:spPr>
          <a:xfrm>
            <a:off x="8275320" y="3520440"/>
            <a:ext cx="640080" cy="640080"/>
          </a:xfrm>
          <a:prstGeom prst="ellipse">
            <a:avLst/>
          </a:prstGeom>
          <a:solidFill>
            <a:srgbClr val="14503C"/>
          </a:solidFill>
          <a:ln/>
        </p:spPr>
      </p:sp>
      <p:pic>
        <p:nvPicPr>
          <p:cNvPr id="30" name="Image 5" descr="preencoded.png">    </p:cNvPr>
          <p:cNvPicPr>
            <a:picLocks noChangeAspect="1"/>
          </p:cNvPicPr>
          <p:nvPr/>
        </p:nvPicPr>
        <p:blipFill>
          <a:blip r:embed="rId6"/>
          <a:stretch>
            <a:fillRect/>
          </a:stretch>
        </p:blipFill>
        <p:spPr>
          <a:xfrm>
            <a:off x="8430768" y="3675888"/>
            <a:ext cx="329184" cy="329184"/>
          </a:xfrm>
          <a:prstGeom prst="rect">
            <a:avLst/>
          </a:prstGeom>
        </p:spPr>
      </p:pic>
      <p:sp>
        <p:nvSpPr>
          <p:cNvPr id="31" name="Text 23"/>
          <p:cNvSpPr txBox="1"/>
          <p:nvPr/>
        </p:nvSpPr>
        <p:spPr>
          <a:xfrm>
            <a:off x="9098280" y="3429000"/>
            <a:ext cx="2331720" cy="411480"/>
          </a:xfrm>
          <a:prstGeom prst="rect">
            <a:avLst/>
          </a:prstGeom>
          <a:noFill/>
          <a:ln/>
        </p:spPr>
        <p:txBody>
          <a:bodyPr wrap="square" lIns="0" tIns="0" rIns="0" bIns="0" rtlCol="0" anchor="ctr"/>
          <a:lstStyle/>
          <a:p>
            <a:pPr indent="0" marL="0">
              <a:buNone/>
            </a:pPr>
            <a:r>
              <a:rPr lang="en-US" sz="1800" b="1" dirty="0">
                <a:solidFill>
                  <a:srgbClr val="0B2E24"/>
                </a:solidFill>
                <a:latin typeface="Cambria" pitchFamily="34" charset="0"/>
                <a:ea typeface="Cambria" pitchFamily="34" charset="-122"/>
                <a:cs typeface="Cambria" pitchFamily="34" charset="-120"/>
              </a:rPr>
              <a:t>Pagination</a:t>
            </a:r>
            <a:endParaRPr lang="en-US" sz="1800" dirty="0"/>
          </a:p>
        </p:txBody>
      </p:sp>
      <p:sp>
        <p:nvSpPr>
          <p:cNvPr id="32" name="Text 24"/>
          <p:cNvSpPr txBox="1"/>
          <p:nvPr/>
        </p:nvSpPr>
        <p:spPr>
          <a:xfrm>
            <a:off x="9098280" y="3886200"/>
            <a:ext cx="2331720" cy="365760"/>
          </a:xfrm>
          <a:prstGeom prst="rect">
            <a:avLst/>
          </a:prstGeom>
          <a:noFill/>
          <a:ln/>
        </p:spPr>
        <p:txBody>
          <a:bodyPr wrap="square" lIns="0" tIns="0" rIns="0" bIns="0" rtlCol="0" anchor="ctr"/>
          <a:lstStyle/>
          <a:p>
            <a:pPr indent="0" marL="0">
              <a:buNone/>
            </a:pPr>
            <a:r>
              <a:rPr lang="en-US" sz="1200" dirty="0">
                <a:solidFill>
                  <a:srgbClr val="5B7268"/>
                </a:solidFill>
                <a:latin typeface="Courier New" pitchFamily="34" charset="0"/>
                <a:ea typeface="Courier New" pitchFamily="34" charset="-122"/>
                <a:cs typeface="Courier New" pitchFamily="34" charset="-120"/>
              </a:rPr>
              <a:t>?page=1&amp;limit=20</a:t>
            </a:r>
            <a:endParaRPr lang="en-US" sz="1200" dirty="0"/>
          </a:p>
        </p:txBody>
      </p:sp>
      <p:sp>
        <p:nvSpPr>
          <p:cNvPr id="33" name="Shape 25"/>
          <p:cNvSpPr/>
          <p:nvPr/>
        </p:nvSpPr>
        <p:spPr>
          <a:xfrm>
            <a:off x="640080" y="4892040"/>
            <a:ext cx="10908792" cy="1188720"/>
          </a:xfrm>
          <a:prstGeom prst="roundRect">
            <a:avLst>
              <a:gd name="adj" fmla="val 7692"/>
            </a:avLst>
          </a:prstGeom>
          <a:solidFill>
            <a:srgbClr val="0B2E24"/>
          </a:solidFill>
          <a:ln/>
        </p:spPr>
      </p:sp>
      <p:sp>
        <p:nvSpPr>
          <p:cNvPr id="34" name="Text 26"/>
          <p:cNvSpPr txBox="1"/>
          <p:nvPr/>
        </p:nvSpPr>
        <p:spPr>
          <a:xfrm>
            <a:off x="960120" y="5029200"/>
            <a:ext cx="10268712" cy="914400"/>
          </a:xfrm>
          <a:prstGeom prst="rect">
            <a:avLst/>
          </a:prstGeom>
          <a:noFill/>
          <a:ln/>
        </p:spPr>
        <p:txBody>
          <a:bodyPr wrap="square" lIns="0" tIns="0" rIns="0" bIns="0" rtlCol="0" anchor="ctr"/>
          <a:lstStyle/>
          <a:p>
            <a:pPr indent="0" marL="0">
              <a:buNone/>
            </a:pPr>
            <a:r>
              <a:rPr lang="en-US" sz="1600" b="1" dirty="0">
                <a:solidFill>
                  <a:srgbClr val="F5B841"/>
                </a:solidFill>
                <a:latin typeface="Courier New" pitchFamily="34" charset="0"/>
                <a:ea typeface="Courier New" pitchFamily="34" charset="-122"/>
                <a:cs typeface="Courier New" pitchFamily="34" charset="-120"/>
              </a:rPr>
              <a:t>GET /api/expenses/summary</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Returns total spent, number of expenses, the average, and totals per category.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Bad input is rejected clearly</a:t>
            </a:r>
            <a:endParaRPr lang="en-US" sz="3800" dirty="0"/>
          </a:p>
        </p:txBody>
      </p:sp>
      <p:sp>
        <p:nvSpPr>
          <p:cNvPr id="3" name="Shape 1"/>
          <p:cNvSpPr/>
          <p:nvPr/>
        </p:nvSpPr>
        <p:spPr>
          <a:xfrm>
            <a:off x="640080" y="1645920"/>
            <a:ext cx="502920" cy="502920"/>
          </a:xfrm>
          <a:prstGeom prst="ellipse">
            <a:avLst/>
          </a:prstGeom>
          <a:solidFill>
            <a:srgbClr val="14503C"/>
          </a:solidFill>
          <a:ln/>
        </p:spPr>
      </p:sp>
      <p:pic>
        <p:nvPicPr>
          <p:cNvPr id="4" name="Image 0" descr="preencoded.png">    </p:cNvPr>
          <p:cNvPicPr>
            <a:picLocks noChangeAspect="1"/>
          </p:cNvPicPr>
          <p:nvPr/>
        </p:nvPicPr>
        <p:blipFill>
          <a:blip r:embed="rId1"/>
          <a:stretch>
            <a:fillRect/>
          </a:stretch>
        </p:blipFill>
        <p:spPr>
          <a:xfrm>
            <a:off x="768096" y="1773936"/>
            <a:ext cx="246888" cy="246888"/>
          </a:xfrm>
          <a:prstGeom prst="rect">
            <a:avLst/>
          </a:prstGeom>
        </p:spPr>
      </p:pic>
      <p:sp>
        <p:nvSpPr>
          <p:cNvPr id="5" name="Text 2"/>
          <p:cNvSpPr txBox="1"/>
          <p:nvPr/>
        </p:nvSpPr>
        <p:spPr>
          <a:xfrm>
            <a:off x="1371600" y="1600200"/>
            <a:ext cx="4480560" cy="594360"/>
          </a:xfrm>
          <a:prstGeom prst="rect">
            <a:avLst/>
          </a:prstGeom>
          <a:noFill/>
          <a:ln/>
        </p:spPr>
        <p:txBody>
          <a:bodyPr wrap="square" lIns="0" tIns="0" rIns="0" bIns="0" rtlCol="0" anchor="ctr"/>
          <a:lstStyle/>
          <a:p>
            <a:pPr indent="0" marL="0">
              <a:buNone/>
            </a:pPr>
            <a:r>
              <a:rPr lang="en-US" sz="1700" dirty="0">
                <a:solidFill>
                  <a:srgbClr val="12271F"/>
                </a:solidFill>
                <a:latin typeface="Calibri" pitchFamily="34" charset="0"/>
                <a:ea typeface="Calibri" pitchFamily="34" charset="-122"/>
                <a:cs typeface="Calibri" pitchFamily="34" charset="-120"/>
              </a:rPr>
              <a:t>title is required, up to 100 characters</a:t>
            </a:r>
            <a:endParaRPr lang="en-US" sz="1700" dirty="0"/>
          </a:p>
        </p:txBody>
      </p:sp>
      <p:sp>
        <p:nvSpPr>
          <p:cNvPr id="6" name="Shape 3"/>
          <p:cNvSpPr/>
          <p:nvPr/>
        </p:nvSpPr>
        <p:spPr>
          <a:xfrm>
            <a:off x="640080" y="2514600"/>
            <a:ext cx="502920" cy="502920"/>
          </a:xfrm>
          <a:prstGeom prst="ellipse">
            <a:avLst/>
          </a:prstGeom>
          <a:solidFill>
            <a:srgbClr val="14503C"/>
          </a:solidFill>
          <a:ln/>
        </p:spPr>
      </p:sp>
      <p:pic>
        <p:nvPicPr>
          <p:cNvPr id="7" name="Image 1" descr="preencoded.png">    </p:cNvPr>
          <p:cNvPicPr>
            <a:picLocks noChangeAspect="1"/>
          </p:cNvPicPr>
          <p:nvPr/>
        </p:nvPicPr>
        <p:blipFill>
          <a:blip r:embed="rId2"/>
          <a:stretch>
            <a:fillRect/>
          </a:stretch>
        </p:blipFill>
        <p:spPr>
          <a:xfrm>
            <a:off x="768096" y="2642616"/>
            <a:ext cx="246888" cy="246888"/>
          </a:xfrm>
          <a:prstGeom prst="rect">
            <a:avLst/>
          </a:prstGeom>
        </p:spPr>
      </p:pic>
      <p:sp>
        <p:nvSpPr>
          <p:cNvPr id="8" name="Text 4"/>
          <p:cNvSpPr txBox="1"/>
          <p:nvPr/>
        </p:nvSpPr>
        <p:spPr>
          <a:xfrm>
            <a:off x="1371600" y="2468880"/>
            <a:ext cx="4480560" cy="594360"/>
          </a:xfrm>
          <a:prstGeom prst="rect">
            <a:avLst/>
          </a:prstGeom>
          <a:noFill/>
          <a:ln/>
        </p:spPr>
        <p:txBody>
          <a:bodyPr wrap="square" lIns="0" tIns="0" rIns="0" bIns="0" rtlCol="0" anchor="ctr"/>
          <a:lstStyle/>
          <a:p>
            <a:pPr indent="0" marL="0">
              <a:buNone/>
            </a:pPr>
            <a:r>
              <a:rPr lang="en-US" sz="1700" dirty="0">
                <a:solidFill>
                  <a:srgbClr val="12271F"/>
                </a:solidFill>
                <a:latin typeface="Calibri" pitchFamily="34" charset="0"/>
                <a:ea typeface="Calibri" pitchFamily="34" charset="-122"/>
                <a:cs typeface="Calibri" pitchFamily="34" charset="-120"/>
              </a:rPr>
              <a:t>amount must be a number greater than 0</a:t>
            </a:r>
            <a:endParaRPr lang="en-US" sz="1700" dirty="0"/>
          </a:p>
        </p:txBody>
      </p:sp>
      <p:sp>
        <p:nvSpPr>
          <p:cNvPr id="9" name="Shape 5"/>
          <p:cNvSpPr/>
          <p:nvPr/>
        </p:nvSpPr>
        <p:spPr>
          <a:xfrm>
            <a:off x="640080" y="3383280"/>
            <a:ext cx="502920" cy="502920"/>
          </a:xfrm>
          <a:prstGeom prst="ellipse">
            <a:avLst/>
          </a:prstGeom>
          <a:solidFill>
            <a:srgbClr val="14503C"/>
          </a:solidFill>
          <a:ln/>
        </p:spPr>
      </p:sp>
      <p:pic>
        <p:nvPicPr>
          <p:cNvPr id="10" name="Image 2" descr="preencoded.png">    </p:cNvPr>
          <p:cNvPicPr>
            <a:picLocks noChangeAspect="1"/>
          </p:cNvPicPr>
          <p:nvPr/>
        </p:nvPicPr>
        <p:blipFill>
          <a:blip r:embed="rId3"/>
          <a:stretch>
            <a:fillRect/>
          </a:stretch>
        </p:blipFill>
        <p:spPr>
          <a:xfrm>
            <a:off x="768096" y="3511296"/>
            <a:ext cx="246888" cy="246888"/>
          </a:xfrm>
          <a:prstGeom prst="rect">
            <a:avLst/>
          </a:prstGeom>
        </p:spPr>
      </p:pic>
      <p:sp>
        <p:nvSpPr>
          <p:cNvPr id="11" name="Text 6"/>
          <p:cNvSpPr txBox="1"/>
          <p:nvPr/>
        </p:nvSpPr>
        <p:spPr>
          <a:xfrm>
            <a:off x="1371600" y="3337560"/>
            <a:ext cx="4480560" cy="594360"/>
          </a:xfrm>
          <a:prstGeom prst="rect">
            <a:avLst/>
          </a:prstGeom>
          <a:noFill/>
          <a:ln/>
        </p:spPr>
        <p:txBody>
          <a:bodyPr wrap="square" lIns="0" tIns="0" rIns="0" bIns="0" rtlCol="0" anchor="ctr"/>
          <a:lstStyle/>
          <a:p>
            <a:pPr indent="0" marL="0">
              <a:buNone/>
            </a:pPr>
            <a:r>
              <a:rPr lang="en-US" sz="1700" dirty="0">
                <a:solidFill>
                  <a:srgbClr val="12271F"/>
                </a:solidFill>
                <a:latin typeface="Calibri" pitchFamily="34" charset="0"/>
                <a:ea typeface="Calibri" pitchFamily="34" charset="-122"/>
                <a:cs typeface="Calibri" pitchFamily="34" charset="-120"/>
              </a:rPr>
              <a:t>category must be one of the 9 allowed values</a:t>
            </a:r>
            <a:endParaRPr lang="en-US" sz="1700" dirty="0"/>
          </a:p>
        </p:txBody>
      </p:sp>
      <p:sp>
        <p:nvSpPr>
          <p:cNvPr id="12" name="Shape 7"/>
          <p:cNvSpPr/>
          <p:nvPr/>
        </p:nvSpPr>
        <p:spPr>
          <a:xfrm>
            <a:off x="640080" y="4251960"/>
            <a:ext cx="502920" cy="502920"/>
          </a:xfrm>
          <a:prstGeom prst="ellipse">
            <a:avLst/>
          </a:prstGeom>
          <a:solidFill>
            <a:srgbClr val="14503C"/>
          </a:solidFill>
          <a:ln/>
        </p:spPr>
      </p:sp>
      <p:pic>
        <p:nvPicPr>
          <p:cNvPr id="13" name="Image 3" descr="preencoded.png">    </p:cNvPr>
          <p:cNvPicPr>
            <a:picLocks noChangeAspect="1"/>
          </p:cNvPicPr>
          <p:nvPr/>
        </p:nvPicPr>
        <p:blipFill>
          <a:blip r:embed="rId4"/>
          <a:stretch>
            <a:fillRect/>
          </a:stretch>
        </p:blipFill>
        <p:spPr>
          <a:xfrm>
            <a:off x="768096" y="4379976"/>
            <a:ext cx="246888" cy="246888"/>
          </a:xfrm>
          <a:prstGeom prst="rect">
            <a:avLst/>
          </a:prstGeom>
        </p:spPr>
      </p:pic>
      <p:sp>
        <p:nvSpPr>
          <p:cNvPr id="14" name="Text 8"/>
          <p:cNvSpPr txBox="1"/>
          <p:nvPr/>
        </p:nvSpPr>
        <p:spPr>
          <a:xfrm>
            <a:off x="1371600" y="4206240"/>
            <a:ext cx="4480560" cy="594360"/>
          </a:xfrm>
          <a:prstGeom prst="rect">
            <a:avLst/>
          </a:prstGeom>
          <a:noFill/>
          <a:ln/>
        </p:spPr>
        <p:txBody>
          <a:bodyPr wrap="square" lIns="0" tIns="0" rIns="0" bIns="0" rtlCol="0" anchor="ctr"/>
          <a:lstStyle/>
          <a:p>
            <a:pPr indent="0" marL="0">
              <a:buNone/>
            </a:pPr>
            <a:r>
              <a:rPr lang="en-US" sz="1700" dirty="0">
                <a:solidFill>
                  <a:srgbClr val="12271F"/>
                </a:solidFill>
                <a:latin typeface="Calibri" pitchFamily="34" charset="0"/>
                <a:ea typeface="Calibri" pitchFamily="34" charset="-122"/>
                <a:cs typeface="Calibri" pitchFamily="34" charset="-120"/>
              </a:rPr>
              <a:t>date must be a real date: 2026-02-30 fails</a:t>
            </a:r>
            <a:endParaRPr lang="en-US" sz="1700" dirty="0"/>
          </a:p>
        </p:txBody>
      </p:sp>
      <p:sp>
        <p:nvSpPr>
          <p:cNvPr id="15" name="Shape 9"/>
          <p:cNvSpPr/>
          <p:nvPr/>
        </p:nvSpPr>
        <p:spPr>
          <a:xfrm>
            <a:off x="640080" y="5120640"/>
            <a:ext cx="502920" cy="502920"/>
          </a:xfrm>
          <a:prstGeom prst="ellipse">
            <a:avLst/>
          </a:prstGeom>
          <a:solidFill>
            <a:srgbClr val="14503C"/>
          </a:solidFill>
          <a:ln/>
        </p:spPr>
      </p:sp>
      <p:pic>
        <p:nvPicPr>
          <p:cNvPr id="16" name="Image 4" descr="preencoded.png">    </p:cNvPr>
          <p:cNvPicPr>
            <a:picLocks noChangeAspect="1"/>
          </p:cNvPicPr>
          <p:nvPr/>
        </p:nvPicPr>
        <p:blipFill>
          <a:blip r:embed="rId5"/>
          <a:stretch>
            <a:fillRect/>
          </a:stretch>
        </p:blipFill>
        <p:spPr>
          <a:xfrm>
            <a:off x="768096" y="5248656"/>
            <a:ext cx="246888" cy="246888"/>
          </a:xfrm>
          <a:prstGeom prst="rect">
            <a:avLst/>
          </a:prstGeom>
        </p:spPr>
      </p:pic>
      <p:sp>
        <p:nvSpPr>
          <p:cNvPr id="17" name="Text 10"/>
          <p:cNvSpPr txBox="1"/>
          <p:nvPr/>
        </p:nvSpPr>
        <p:spPr>
          <a:xfrm>
            <a:off x="1371600" y="5074920"/>
            <a:ext cx="4480560" cy="594360"/>
          </a:xfrm>
          <a:prstGeom prst="rect">
            <a:avLst/>
          </a:prstGeom>
          <a:noFill/>
          <a:ln/>
        </p:spPr>
        <p:txBody>
          <a:bodyPr wrap="square" lIns="0" tIns="0" rIns="0" bIns="0" rtlCol="0" anchor="ctr"/>
          <a:lstStyle/>
          <a:p>
            <a:pPr indent="0" marL="0">
              <a:buNone/>
            </a:pPr>
            <a:r>
              <a:rPr lang="en-US" sz="1700" dirty="0">
                <a:solidFill>
                  <a:srgbClr val="12271F"/>
                </a:solidFill>
                <a:latin typeface="Calibri" pitchFamily="34" charset="0"/>
                <a:ea typeface="Calibri" pitchFamily="34" charset="-122"/>
                <a:cs typeface="Calibri" pitchFamily="34" charset="-120"/>
              </a:rPr>
              <a:t>malformed JSON returns 400, unknown routes 404</a:t>
            </a:r>
            <a:endParaRPr lang="en-US" sz="1700" dirty="0"/>
          </a:p>
        </p:txBody>
      </p:sp>
      <p:sp>
        <p:nvSpPr>
          <p:cNvPr id="18" name="Shape 11"/>
          <p:cNvSpPr/>
          <p:nvPr/>
        </p:nvSpPr>
        <p:spPr>
          <a:xfrm>
            <a:off x="6309360" y="1554480"/>
            <a:ext cx="5257800" cy="4206240"/>
          </a:xfrm>
          <a:prstGeom prst="roundRect">
            <a:avLst>
              <a:gd name="adj" fmla="val 2609"/>
            </a:avLst>
          </a:prstGeom>
          <a:solidFill>
            <a:srgbClr val="0F3B2D"/>
          </a:solidFill>
          <a:ln w="12700">
            <a:solidFill>
              <a:srgbClr val="14503C"/>
            </a:solidFill>
            <a:prstDash val="solid"/>
          </a:ln>
        </p:spPr>
      </p:sp>
      <p:sp>
        <p:nvSpPr>
          <p:cNvPr id="19" name="Text 12"/>
          <p:cNvSpPr txBox="1"/>
          <p:nvPr/>
        </p:nvSpPr>
        <p:spPr>
          <a:xfrm>
            <a:off x="6583680" y="1783080"/>
            <a:ext cx="4709160" cy="3749040"/>
          </a:xfrm>
          <a:prstGeom prst="rect">
            <a:avLst/>
          </a:prstGeom>
          <a:noFill/>
          <a:ln/>
        </p:spPr>
        <p:txBody>
          <a:bodyPr wrap="square" lIns="0" tIns="0" rIns="0" bIns="0" rtlCol="0" anchor="t"/>
          <a:lstStyle/>
          <a:p>
            <a:pPr indent="0" marL="0">
              <a:spcAft>
                <a:spcPts val="200"/>
              </a:spcAft>
              <a:buNone/>
            </a:pPr>
            <a:r>
              <a:rPr lang="en-US" sz="1400" b="1" dirty="0">
                <a:solidFill>
                  <a:srgbClr val="F5B841"/>
                </a:solidFill>
                <a:latin typeface="Courier New" pitchFamily="34" charset="0"/>
                <a:ea typeface="Courier New" pitchFamily="34" charset="-122"/>
                <a:cs typeface="Courier New" pitchFamily="34" charset="-120"/>
              </a:rPr>
              <a:t>POST /api/expenses</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"title": "", "amount": -5,</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"category": "Gaming",</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"date": "2026-02-30" }</a:t>
            </a:r>
            <a:endParaRPr lang="en-US" sz="1400" dirty="0"/>
          </a:p>
          <a:p>
            <a:pPr indent="0" marL="0">
              <a:spcAft>
                <a:spcPts val="200"/>
              </a:spcAft>
              <a:buNone/>
            </a:pPr>
            <a:endParaRPr lang="en-US" sz="1400" dirty="0"/>
          </a:p>
          <a:p>
            <a:pPr indent="0" marL="0">
              <a:spcAft>
                <a:spcPts val="200"/>
              </a:spcAft>
              <a:buNone/>
            </a:pPr>
            <a:r>
              <a:rPr lang="en-US" sz="1400" b="1" dirty="0">
                <a:solidFill>
                  <a:srgbClr val="FF8A8D"/>
                </a:solidFill>
                <a:latin typeface="Courier New" pitchFamily="34" charset="0"/>
                <a:ea typeface="Courier New" pitchFamily="34" charset="-122"/>
                <a:cs typeface="Courier New" pitchFamily="34" charset="-120"/>
              </a:rPr>
              <a:t>400 Bad Request</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"message": "Validation failed",</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"errors": [</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"title is required...",</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"amount ... greater than 0",</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"category ... one of: Food, ...",</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  "date ... YYYY-MM-DD format"</a:t>
            </a:r>
            <a:endParaRPr lang="en-US" sz="1400" dirty="0"/>
          </a:p>
          <a:p>
            <a:pPr indent="0" marL="0">
              <a:spcAft>
                <a:spcPts val="200"/>
              </a:spcAft>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Live demo on localhost</a:t>
            </a:r>
            <a:endParaRPr lang="en-US" sz="3800" dirty="0"/>
          </a:p>
        </p:txBody>
      </p:sp>
      <p:sp>
        <p:nvSpPr>
          <p:cNvPr id="3" name="Shape 1"/>
          <p:cNvSpPr/>
          <p:nvPr/>
        </p:nvSpPr>
        <p:spPr>
          <a:xfrm>
            <a:off x="562356" y="1737360"/>
            <a:ext cx="1691640" cy="3108960"/>
          </a:xfrm>
          <a:prstGeom prst="roundRect">
            <a:avLst>
              <a:gd name="adj" fmla="val 6486"/>
            </a:avLst>
          </a:prstGeom>
          <a:solidFill>
            <a:srgbClr val="0F3B2D"/>
          </a:solidFill>
          <a:ln w="12700">
            <a:solidFill>
              <a:srgbClr val="14503C"/>
            </a:solidFill>
            <a:prstDash val="solid"/>
          </a:ln>
        </p:spPr>
      </p:sp>
      <p:sp>
        <p:nvSpPr>
          <p:cNvPr id="4" name="Shape 2"/>
          <p:cNvSpPr/>
          <p:nvPr/>
        </p:nvSpPr>
        <p:spPr>
          <a:xfrm>
            <a:off x="1088136" y="2011680"/>
            <a:ext cx="640080" cy="640080"/>
          </a:xfrm>
          <a:prstGeom prst="ellipse">
            <a:avLst/>
          </a:prstGeom>
          <a:solidFill>
            <a:srgbClr val="F5B841"/>
          </a:solidFill>
          <a:ln/>
        </p:spPr>
      </p:sp>
      <p:sp>
        <p:nvSpPr>
          <p:cNvPr id="5" name="Text 3"/>
          <p:cNvSpPr txBox="1"/>
          <p:nvPr/>
        </p:nvSpPr>
        <p:spPr>
          <a:xfrm>
            <a:off x="108813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56235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Start</a:t>
            </a:r>
            <a:endParaRPr lang="en-US" sz="2200" dirty="0"/>
          </a:p>
        </p:txBody>
      </p:sp>
      <p:sp>
        <p:nvSpPr>
          <p:cNvPr id="7" name="Text 5"/>
          <p:cNvSpPr txBox="1"/>
          <p:nvPr/>
        </p:nvSpPr>
        <p:spPr>
          <a:xfrm>
            <a:off x="65379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npm start</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GET /api/health</a:t>
            </a:r>
            <a:endParaRPr lang="en-US" sz="1400" dirty="0"/>
          </a:p>
        </p:txBody>
      </p:sp>
      <p:sp>
        <p:nvSpPr>
          <p:cNvPr id="8" name="Text 6"/>
          <p:cNvSpPr txBox="1"/>
          <p:nvPr/>
        </p:nvSpPr>
        <p:spPr>
          <a:xfrm>
            <a:off x="56235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0:15</a:t>
            </a:r>
            <a:endParaRPr lang="en-US" sz="1400" dirty="0"/>
          </a:p>
        </p:txBody>
      </p:sp>
      <p:sp>
        <p:nvSpPr>
          <p:cNvPr id="9" name="Shape 7"/>
          <p:cNvSpPr/>
          <p:nvPr/>
        </p:nvSpPr>
        <p:spPr>
          <a:xfrm>
            <a:off x="2436876" y="1737360"/>
            <a:ext cx="1691640" cy="3108960"/>
          </a:xfrm>
          <a:prstGeom prst="roundRect">
            <a:avLst>
              <a:gd name="adj" fmla="val 6486"/>
            </a:avLst>
          </a:prstGeom>
          <a:solidFill>
            <a:srgbClr val="0F3B2D"/>
          </a:solidFill>
          <a:ln w="12700">
            <a:solidFill>
              <a:srgbClr val="14503C"/>
            </a:solidFill>
            <a:prstDash val="solid"/>
          </a:ln>
        </p:spPr>
      </p:sp>
      <p:sp>
        <p:nvSpPr>
          <p:cNvPr id="10" name="Shape 8"/>
          <p:cNvSpPr/>
          <p:nvPr/>
        </p:nvSpPr>
        <p:spPr>
          <a:xfrm>
            <a:off x="2962656" y="2011680"/>
            <a:ext cx="640080" cy="640080"/>
          </a:xfrm>
          <a:prstGeom prst="ellipse">
            <a:avLst/>
          </a:prstGeom>
          <a:solidFill>
            <a:srgbClr val="F5B841"/>
          </a:solidFill>
          <a:ln/>
        </p:spPr>
      </p:sp>
      <p:sp>
        <p:nvSpPr>
          <p:cNvPr id="11" name="Text 9"/>
          <p:cNvSpPr txBox="1"/>
          <p:nvPr/>
        </p:nvSpPr>
        <p:spPr>
          <a:xfrm>
            <a:off x="296265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243687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Create</a:t>
            </a:r>
            <a:endParaRPr lang="en-US" sz="2200" dirty="0"/>
          </a:p>
        </p:txBody>
      </p:sp>
      <p:sp>
        <p:nvSpPr>
          <p:cNvPr id="13" name="Text 11"/>
          <p:cNvSpPr txBox="1"/>
          <p:nvPr/>
        </p:nvSpPr>
        <p:spPr>
          <a:xfrm>
            <a:off x="252831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POST an expense</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shows 201</a:t>
            </a:r>
            <a:endParaRPr lang="en-US" sz="1400" dirty="0"/>
          </a:p>
        </p:txBody>
      </p:sp>
      <p:sp>
        <p:nvSpPr>
          <p:cNvPr id="14" name="Text 12"/>
          <p:cNvSpPr txBox="1"/>
          <p:nvPr/>
        </p:nvSpPr>
        <p:spPr>
          <a:xfrm>
            <a:off x="243687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0:20</a:t>
            </a:r>
            <a:endParaRPr lang="en-US" sz="1400" dirty="0"/>
          </a:p>
        </p:txBody>
      </p:sp>
      <p:sp>
        <p:nvSpPr>
          <p:cNvPr id="15" name="Shape 13"/>
          <p:cNvSpPr/>
          <p:nvPr/>
        </p:nvSpPr>
        <p:spPr>
          <a:xfrm>
            <a:off x="4311396" y="1737360"/>
            <a:ext cx="1691640" cy="3108960"/>
          </a:xfrm>
          <a:prstGeom prst="roundRect">
            <a:avLst>
              <a:gd name="adj" fmla="val 6486"/>
            </a:avLst>
          </a:prstGeom>
          <a:solidFill>
            <a:srgbClr val="0F3B2D"/>
          </a:solidFill>
          <a:ln w="12700">
            <a:solidFill>
              <a:srgbClr val="14503C"/>
            </a:solidFill>
            <a:prstDash val="solid"/>
          </a:ln>
        </p:spPr>
      </p:sp>
      <p:sp>
        <p:nvSpPr>
          <p:cNvPr id="16" name="Shape 14"/>
          <p:cNvSpPr/>
          <p:nvPr/>
        </p:nvSpPr>
        <p:spPr>
          <a:xfrm>
            <a:off x="4837176" y="2011680"/>
            <a:ext cx="640080" cy="640080"/>
          </a:xfrm>
          <a:prstGeom prst="ellipse">
            <a:avLst/>
          </a:prstGeom>
          <a:solidFill>
            <a:srgbClr val="F5B841"/>
          </a:solidFill>
          <a:ln/>
        </p:spPr>
      </p:sp>
      <p:sp>
        <p:nvSpPr>
          <p:cNvPr id="17" name="Text 15"/>
          <p:cNvSpPr txBox="1"/>
          <p:nvPr/>
        </p:nvSpPr>
        <p:spPr>
          <a:xfrm>
            <a:off x="483717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431139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Read</a:t>
            </a:r>
            <a:endParaRPr lang="en-US" sz="2200" dirty="0"/>
          </a:p>
        </p:txBody>
      </p:sp>
      <p:sp>
        <p:nvSpPr>
          <p:cNvPr id="19" name="Text 17"/>
          <p:cNvSpPr txBox="1"/>
          <p:nvPr/>
        </p:nvSpPr>
        <p:spPr>
          <a:xfrm>
            <a:off x="440283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GET list, then</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filter + sort</a:t>
            </a:r>
            <a:endParaRPr lang="en-US" sz="1400" dirty="0"/>
          </a:p>
        </p:txBody>
      </p:sp>
      <p:sp>
        <p:nvSpPr>
          <p:cNvPr id="20" name="Text 18"/>
          <p:cNvSpPr txBox="1"/>
          <p:nvPr/>
        </p:nvSpPr>
        <p:spPr>
          <a:xfrm>
            <a:off x="431139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0:20</a:t>
            </a:r>
            <a:endParaRPr lang="en-US" sz="1400" dirty="0"/>
          </a:p>
        </p:txBody>
      </p:sp>
      <p:sp>
        <p:nvSpPr>
          <p:cNvPr id="21" name="Shape 19"/>
          <p:cNvSpPr/>
          <p:nvPr/>
        </p:nvSpPr>
        <p:spPr>
          <a:xfrm>
            <a:off x="6185916" y="1737360"/>
            <a:ext cx="1691640" cy="3108960"/>
          </a:xfrm>
          <a:prstGeom prst="roundRect">
            <a:avLst>
              <a:gd name="adj" fmla="val 6486"/>
            </a:avLst>
          </a:prstGeom>
          <a:solidFill>
            <a:srgbClr val="0F3B2D"/>
          </a:solidFill>
          <a:ln w="12700">
            <a:solidFill>
              <a:srgbClr val="14503C"/>
            </a:solidFill>
            <a:prstDash val="solid"/>
          </a:ln>
        </p:spPr>
      </p:sp>
      <p:sp>
        <p:nvSpPr>
          <p:cNvPr id="22" name="Shape 20"/>
          <p:cNvSpPr/>
          <p:nvPr/>
        </p:nvSpPr>
        <p:spPr>
          <a:xfrm>
            <a:off x="6711696" y="2011680"/>
            <a:ext cx="640080" cy="640080"/>
          </a:xfrm>
          <a:prstGeom prst="ellipse">
            <a:avLst/>
          </a:prstGeom>
          <a:solidFill>
            <a:srgbClr val="F5B841"/>
          </a:solidFill>
          <a:ln/>
        </p:spPr>
      </p:sp>
      <p:sp>
        <p:nvSpPr>
          <p:cNvPr id="23" name="Text 21"/>
          <p:cNvSpPr txBox="1"/>
          <p:nvPr/>
        </p:nvSpPr>
        <p:spPr>
          <a:xfrm>
            <a:off x="671169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4</a:t>
            </a:r>
            <a:endParaRPr lang="en-US" sz="2400" dirty="0"/>
          </a:p>
        </p:txBody>
      </p:sp>
      <p:sp>
        <p:nvSpPr>
          <p:cNvPr id="24" name="Text 22"/>
          <p:cNvSpPr txBox="1"/>
          <p:nvPr/>
        </p:nvSpPr>
        <p:spPr>
          <a:xfrm>
            <a:off x="618591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Update</a:t>
            </a:r>
            <a:endParaRPr lang="en-US" sz="2200" dirty="0"/>
          </a:p>
        </p:txBody>
      </p:sp>
      <p:sp>
        <p:nvSpPr>
          <p:cNvPr id="25" name="Text 23"/>
          <p:cNvSpPr txBox="1"/>
          <p:nvPr/>
        </p:nvSpPr>
        <p:spPr>
          <a:xfrm>
            <a:off x="627735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PATCH the amount</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then GET it</a:t>
            </a:r>
            <a:endParaRPr lang="en-US" sz="1400" dirty="0"/>
          </a:p>
        </p:txBody>
      </p:sp>
      <p:sp>
        <p:nvSpPr>
          <p:cNvPr id="26" name="Text 24"/>
          <p:cNvSpPr txBox="1"/>
          <p:nvPr/>
        </p:nvSpPr>
        <p:spPr>
          <a:xfrm>
            <a:off x="618591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0:15</a:t>
            </a:r>
            <a:endParaRPr lang="en-US" sz="1400" dirty="0"/>
          </a:p>
        </p:txBody>
      </p:sp>
      <p:sp>
        <p:nvSpPr>
          <p:cNvPr id="27" name="Shape 25"/>
          <p:cNvSpPr/>
          <p:nvPr/>
        </p:nvSpPr>
        <p:spPr>
          <a:xfrm>
            <a:off x="8060436" y="1737360"/>
            <a:ext cx="1691640" cy="3108960"/>
          </a:xfrm>
          <a:prstGeom prst="roundRect">
            <a:avLst>
              <a:gd name="adj" fmla="val 6486"/>
            </a:avLst>
          </a:prstGeom>
          <a:solidFill>
            <a:srgbClr val="0F3B2D"/>
          </a:solidFill>
          <a:ln w="12700">
            <a:solidFill>
              <a:srgbClr val="14503C"/>
            </a:solidFill>
            <a:prstDash val="solid"/>
          </a:ln>
        </p:spPr>
      </p:sp>
      <p:sp>
        <p:nvSpPr>
          <p:cNvPr id="28" name="Shape 26"/>
          <p:cNvSpPr/>
          <p:nvPr/>
        </p:nvSpPr>
        <p:spPr>
          <a:xfrm>
            <a:off x="8586216" y="2011680"/>
            <a:ext cx="640080" cy="640080"/>
          </a:xfrm>
          <a:prstGeom prst="ellipse">
            <a:avLst/>
          </a:prstGeom>
          <a:solidFill>
            <a:srgbClr val="F5B841"/>
          </a:solidFill>
          <a:ln/>
        </p:spPr>
      </p:sp>
      <p:sp>
        <p:nvSpPr>
          <p:cNvPr id="29" name="Text 27"/>
          <p:cNvSpPr txBox="1"/>
          <p:nvPr/>
        </p:nvSpPr>
        <p:spPr>
          <a:xfrm>
            <a:off x="858621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5</a:t>
            </a:r>
            <a:endParaRPr lang="en-US" sz="2400" dirty="0"/>
          </a:p>
        </p:txBody>
      </p:sp>
      <p:sp>
        <p:nvSpPr>
          <p:cNvPr id="30" name="Text 28"/>
          <p:cNvSpPr txBox="1"/>
          <p:nvPr/>
        </p:nvSpPr>
        <p:spPr>
          <a:xfrm>
            <a:off x="806043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Delete</a:t>
            </a:r>
            <a:endParaRPr lang="en-US" sz="2200" dirty="0"/>
          </a:p>
        </p:txBody>
      </p:sp>
      <p:sp>
        <p:nvSpPr>
          <p:cNvPr id="31" name="Text 29"/>
          <p:cNvSpPr txBox="1"/>
          <p:nvPr/>
        </p:nvSpPr>
        <p:spPr>
          <a:xfrm>
            <a:off x="815187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DELETE, then GET</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shows 404</a:t>
            </a:r>
            <a:endParaRPr lang="en-US" sz="1400" dirty="0"/>
          </a:p>
        </p:txBody>
      </p:sp>
      <p:sp>
        <p:nvSpPr>
          <p:cNvPr id="32" name="Text 30"/>
          <p:cNvSpPr txBox="1"/>
          <p:nvPr/>
        </p:nvSpPr>
        <p:spPr>
          <a:xfrm>
            <a:off x="806043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0:10</a:t>
            </a:r>
            <a:endParaRPr lang="en-US" sz="1400" dirty="0"/>
          </a:p>
        </p:txBody>
      </p:sp>
      <p:sp>
        <p:nvSpPr>
          <p:cNvPr id="33" name="Shape 31"/>
          <p:cNvSpPr/>
          <p:nvPr/>
        </p:nvSpPr>
        <p:spPr>
          <a:xfrm>
            <a:off x="9934956" y="1737360"/>
            <a:ext cx="1691640" cy="3108960"/>
          </a:xfrm>
          <a:prstGeom prst="roundRect">
            <a:avLst>
              <a:gd name="adj" fmla="val 6486"/>
            </a:avLst>
          </a:prstGeom>
          <a:solidFill>
            <a:srgbClr val="0F3B2D"/>
          </a:solidFill>
          <a:ln w="12700">
            <a:solidFill>
              <a:srgbClr val="14503C"/>
            </a:solidFill>
            <a:prstDash val="solid"/>
          </a:ln>
        </p:spPr>
      </p:sp>
      <p:sp>
        <p:nvSpPr>
          <p:cNvPr id="34" name="Shape 32"/>
          <p:cNvSpPr/>
          <p:nvPr/>
        </p:nvSpPr>
        <p:spPr>
          <a:xfrm>
            <a:off x="10460736" y="2011680"/>
            <a:ext cx="640080" cy="640080"/>
          </a:xfrm>
          <a:prstGeom prst="ellipse">
            <a:avLst/>
          </a:prstGeom>
          <a:solidFill>
            <a:srgbClr val="F5B841"/>
          </a:solidFill>
          <a:ln/>
        </p:spPr>
      </p:sp>
      <p:sp>
        <p:nvSpPr>
          <p:cNvPr id="35" name="Text 33"/>
          <p:cNvSpPr txBox="1"/>
          <p:nvPr/>
        </p:nvSpPr>
        <p:spPr>
          <a:xfrm>
            <a:off x="10460736" y="2011680"/>
            <a:ext cx="640080" cy="640080"/>
          </a:xfrm>
          <a:prstGeom prst="rect">
            <a:avLst/>
          </a:prstGeom>
          <a:noFill/>
          <a:ln/>
        </p:spPr>
        <p:txBody>
          <a:bodyPr wrap="square" lIns="0" tIns="0" rIns="0" bIns="0" rtlCol="0" anchor="ctr"/>
          <a:lstStyle/>
          <a:p>
            <a:pPr algn="ctr" indent="0" marL="0">
              <a:buNone/>
            </a:pPr>
            <a:r>
              <a:rPr lang="en-US" sz="2400" b="1" dirty="0">
                <a:solidFill>
                  <a:srgbClr val="0B2E24"/>
                </a:solidFill>
                <a:latin typeface="Cambria" pitchFamily="34" charset="0"/>
                <a:ea typeface="Cambria" pitchFamily="34" charset="-122"/>
                <a:cs typeface="Cambria" pitchFamily="34" charset="-120"/>
              </a:rPr>
              <a:t>6</a:t>
            </a:r>
            <a:endParaRPr lang="en-US" sz="2400" dirty="0"/>
          </a:p>
        </p:txBody>
      </p:sp>
      <p:sp>
        <p:nvSpPr>
          <p:cNvPr id="36" name="Text 34"/>
          <p:cNvSpPr txBox="1"/>
          <p:nvPr/>
        </p:nvSpPr>
        <p:spPr>
          <a:xfrm>
            <a:off x="9934956" y="2834640"/>
            <a:ext cx="16916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Extras</a:t>
            </a:r>
            <a:endParaRPr lang="en-US" sz="2200" dirty="0"/>
          </a:p>
        </p:txBody>
      </p:sp>
      <p:sp>
        <p:nvSpPr>
          <p:cNvPr id="37" name="Text 35"/>
          <p:cNvSpPr txBox="1"/>
          <p:nvPr/>
        </p:nvSpPr>
        <p:spPr>
          <a:xfrm>
            <a:off x="10026396" y="3429000"/>
            <a:ext cx="1508760" cy="822960"/>
          </a:xfrm>
          <a:prstGeom prst="rect">
            <a:avLst/>
          </a:prstGeom>
          <a:noFill/>
          <a:ln/>
        </p:spPr>
        <p:txBody>
          <a:bodyPr wrap="square" lIns="0" tIns="0" rIns="0" bIns="0" rtlCol="0" anchor="t"/>
          <a:lstStyle/>
          <a:p>
            <a:pPr algn="ctr" indent="0" marL="0">
              <a:buNone/>
            </a:pPr>
            <a:r>
              <a:rPr lang="en-US" sz="1400" dirty="0">
                <a:solidFill>
                  <a:srgbClr val="CFE6DB"/>
                </a:solidFill>
                <a:latin typeface="Calibri" pitchFamily="34" charset="0"/>
                <a:ea typeface="Calibri" pitchFamily="34" charset="-122"/>
                <a:cs typeface="Calibri" pitchFamily="34" charset="-120"/>
              </a:rPr>
              <a:t>summary and a</a:t>
            </a:r>
            <a:endParaRPr lang="en-US" sz="1400" dirty="0"/>
          </a:p>
          <a:p>
            <a:pPr algn="ctr" indent="0" marL="0">
              <a:buNone/>
            </a:pPr>
            <a:r>
              <a:rPr lang="en-US" sz="1400" dirty="0">
                <a:solidFill>
                  <a:srgbClr val="CFE6DB"/>
                </a:solidFill>
                <a:latin typeface="Calibri" pitchFamily="34" charset="0"/>
                <a:ea typeface="Calibri" pitchFamily="34" charset="-122"/>
                <a:cs typeface="Calibri" pitchFamily="34" charset="-120"/>
              </a:rPr>
              <a:t>bad request (400)</a:t>
            </a:r>
            <a:endParaRPr lang="en-US" sz="1400" dirty="0"/>
          </a:p>
        </p:txBody>
      </p:sp>
      <p:sp>
        <p:nvSpPr>
          <p:cNvPr id="38" name="Text 36"/>
          <p:cNvSpPr txBox="1"/>
          <p:nvPr/>
        </p:nvSpPr>
        <p:spPr>
          <a:xfrm>
            <a:off x="9934956" y="4343400"/>
            <a:ext cx="1691640" cy="320040"/>
          </a:xfrm>
          <a:prstGeom prst="rect">
            <a:avLst/>
          </a:prstGeom>
          <a:noFill/>
          <a:ln/>
        </p:spPr>
        <p:txBody>
          <a:bodyPr wrap="square" lIns="0" tIns="0" rIns="0" bIns="0" rtlCol="0" anchor="ctr"/>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0:10</a:t>
            </a:r>
            <a:endParaRPr lang="en-US" sz="1400" dirty="0"/>
          </a:p>
        </p:txBody>
      </p:sp>
      <p:sp>
        <p:nvSpPr>
          <p:cNvPr id="39" name="Text 37"/>
          <p:cNvSpPr txBox="1"/>
          <p:nvPr/>
        </p:nvSpPr>
        <p:spPr>
          <a:xfrm>
            <a:off x="640080" y="5394960"/>
            <a:ext cx="10908792" cy="457200"/>
          </a:xfrm>
          <a:prstGeom prst="rect">
            <a:avLst/>
          </a:prstGeom>
          <a:noFill/>
          <a:ln/>
        </p:spPr>
        <p:txBody>
          <a:bodyPr wrap="square" lIns="0" tIns="0" rIns="0" bIns="0" rtlCol="0" anchor="ctr"/>
          <a:lstStyle/>
          <a:p>
            <a:pPr algn="ctr" indent="0" marL="0">
              <a:buNone/>
            </a:pPr>
            <a:r>
              <a:rPr lang="en-US" sz="1600" dirty="0">
                <a:solidFill>
                  <a:srgbClr val="3DDC97"/>
                </a:solidFill>
                <a:latin typeface="Calibri" pitchFamily="34" charset="0"/>
                <a:ea typeface="Calibri" pitchFamily="34" charset="-122"/>
                <a:cs typeface="Calibri" pitchFamily="34" charset="-120"/>
              </a:rPr>
              <a:t>Total: about 1 minute 30 seconds. Postman or curl, server already running in a second window.</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Testing the endpoints</a:t>
            </a:r>
            <a:endParaRPr lang="en-US" sz="3800" dirty="0"/>
          </a:p>
        </p:txBody>
      </p:sp>
      <p:sp>
        <p:nvSpPr>
          <p:cNvPr id="3" name="Shape 1"/>
          <p:cNvSpPr/>
          <p:nvPr/>
        </p:nvSpPr>
        <p:spPr>
          <a:xfrm>
            <a:off x="640080" y="1554480"/>
            <a:ext cx="4206240" cy="4297680"/>
          </a:xfrm>
          <a:prstGeom prst="roundRect">
            <a:avLst>
              <a:gd name="adj" fmla="val 2609"/>
            </a:avLst>
          </a:prstGeom>
          <a:solidFill>
            <a:srgbClr val="0B2E24"/>
          </a:solidFill>
          <a:ln/>
        </p:spPr>
      </p:sp>
      <p:sp>
        <p:nvSpPr>
          <p:cNvPr id="4" name="Text 2"/>
          <p:cNvSpPr txBox="1"/>
          <p:nvPr/>
        </p:nvSpPr>
        <p:spPr>
          <a:xfrm>
            <a:off x="640080" y="2011680"/>
            <a:ext cx="4206240" cy="1280160"/>
          </a:xfrm>
          <a:prstGeom prst="rect">
            <a:avLst/>
          </a:prstGeom>
          <a:noFill/>
          <a:ln/>
        </p:spPr>
        <p:txBody>
          <a:bodyPr wrap="square" lIns="0" tIns="0" rIns="0" bIns="0" rtlCol="0" anchor="ctr"/>
          <a:lstStyle/>
          <a:p>
            <a:pPr algn="ctr" indent="0" marL="0">
              <a:buNone/>
            </a:pPr>
            <a:r>
              <a:rPr lang="en-US" sz="7200" b="1" dirty="0">
                <a:solidFill>
                  <a:srgbClr val="3DDC97"/>
                </a:solidFill>
                <a:latin typeface="Cambria" pitchFamily="34" charset="0"/>
                <a:ea typeface="Cambria" pitchFamily="34" charset="-122"/>
                <a:cs typeface="Cambria" pitchFamily="34" charset="-120"/>
              </a:rPr>
              <a:t>15/15</a:t>
            </a:r>
            <a:endParaRPr lang="en-US" sz="7200" dirty="0"/>
          </a:p>
        </p:txBody>
      </p:sp>
      <p:sp>
        <p:nvSpPr>
          <p:cNvPr id="5" name="Text 3"/>
          <p:cNvSpPr txBox="1"/>
          <p:nvPr/>
        </p:nvSpPr>
        <p:spPr>
          <a:xfrm>
            <a:off x="640080" y="3291840"/>
            <a:ext cx="4206240" cy="45720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tests passing</a:t>
            </a:r>
            <a:endParaRPr lang="en-US" sz="2200" dirty="0"/>
          </a:p>
        </p:txBody>
      </p:sp>
      <p:sp>
        <p:nvSpPr>
          <p:cNvPr id="6" name="Text 4"/>
          <p:cNvSpPr txBox="1"/>
          <p:nvPr/>
        </p:nvSpPr>
        <p:spPr>
          <a:xfrm>
            <a:off x="914400" y="4114800"/>
            <a:ext cx="3657600" cy="1463040"/>
          </a:xfrm>
          <a:prstGeom prst="rect">
            <a:avLst/>
          </a:prstGeom>
          <a:noFill/>
          <a:ln/>
        </p:spPr>
        <p:txBody>
          <a:bodyPr wrap="square" lIns="0" tIns="0" rIns="0" bIns="0" rtlCol="0" anchor="ctr"/>
          <a:lstStyle/>
          <a:p>
            <a:pPr algn="ctr" indent="0" marL="0">
              <a:spcAft>
                <a:spcPts val="400"/>
              </a:spcAft>
              <a:buNone/>
            </a:pPr>
            <a:r>
              <a:rPr lang="en-US" sz="1400" b="1" dirty="0">
                <a:solidFill>
                  <a:srgbClr val="F5B841"/>
                </a:solidFill>
                <a:latin typeface="Courier New" pitchFamily="34" charset="0"/>
                <a:ea typeface="Courier New" pitchFamily="34" charset="-122"/>
                <a:cs typeface="Courier New" pitchFamily="34" charset="-120"/>
              </a:rPr>
              <a:t>npm test</a:t>
            </a:r>
            <a:endParaRPr lang="en-US" sz="1400" dirty="0"/>
          </a:p>
          <a:p>
            <a:pPr algn="ctr" indent="0" marL="0">
              <a:spcAft>
                <a:spcPts val="400"/>
              </a:spcAft>
              <a:buNone/>
            </a:pPr>
            <a:r>
              <a:rPr lang="en-US" sz="1400" dirty="0">
                <a:solidFill>
                  <a:srgbClr val="CFE6DB"/>
                </a:solidFill>
                <a:latin typeface="Courier New" pitchFamily="34" charset="0"/>
                <a:ea typeface="Courier New" pitchFamily="34" charset="-122"/>
                <a:cs typeface="Courier New" pitchFamily="34" charset="-120"/>
              </a:rPr>
              <a:t>node --test + Supertest</a:t>
            </a:r>
            <a:endParaRPr lang="en-US" sz="1400" dirty="0"/>
          </a:p>
          <a:p>
            <a:pPr algn="ctr" indent="0" marL="0">
              <a:spcAft>
                <a:spcPts val="400"/>
              </a:spcAft>
              <a:buNone/>
            </a:pPr>
            <a:r>
              <a:rPr lang="en-US" sz="1400" dirty="0">
                <a:solidFill>
                  <a:srgbClr val="CFE6DB"/>
                </a:solidFill>
                <a:latin typeface="Calibri" pitchFamily="34" charset="0"/>
                <a:ea typeface="Calibri" pitchFamily="34" charset="-122"/>
                <a:cs typeface="Calibri" pitchFamily="34" charset="-120"/>
              </a:rPr>
              <a:t>Uses a temp file, so real data is safe</a:t>
            </a:r>
            <a:endParaRPr lang="en-US" sz="1400" dirty="0"/>
          </a:p>
        </p:txBody>
      </p:sp>
      <p:graphicFrame>
        <p:nvGraphicFramePr>
          <p:cNvPr id="7" name="Chart 0" descr=""/>
          <p:cNvGraphicFramePr/>
          <p:nvPr/>
        </p:nvGraphicFramePr>
        <p:xfrm>
          <a:off x="5212080" y="1554480"/>
          <a:ext cx="6355080"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08792" cy="822960"/>
          </a:xfrm>
          <a:prstGeom prst="rect">
            <a:avLst/>
          </a:prstGeom>
          <a:noFill/>
          <a:ln/>
        </p:spPr>
        <p:txBody>
          <a:bodyPr wrap="square" lIns="0" tIns="0" rIns="0" bIns="0" rtlCol="0" anchor="ctr"/>
          <a:lstStyle/>
          <a:p>
            <a:pPr indent="0" marL="0">
              <a:buNone/>
            </a:pPr>
            <a:r>
              <a:rPr lang="en-US" sz="3800" b="1" dirty="0">
                <a:solidFill>
                  <a:srgbClr val="0B2E24"/>
                </a:solidFill>
                <a:latin typeface="Cambria" pitchFamily="34" charset="0"/>
                <a:ea typeface="Cambria" pitchFamily="34" charset="-122"/>
                <a:cs typeface="Cambria" pitchFamily="34" charset="-120"/>
              </a:rPr>
              <a:t>Collaboration: 13 members, one repo</a:t>
            </a:r>
            <a:endParaRPr lang="en-US" sz="3800" dirty="0"/>
          </a:p>
        </p:txBody>
      </p:sp>
      <p:sp>
        <p:nvSpPr>
          <p:cNvPr id="3" name="Shape 1"/>
          <p:cNvSpPr/>
          <p:nvPr/>
        </p:nvSpPr>
        <p:spPr>
          <a:xfrm>
            <a:off x="736092" y="1508760"/>
            <a:ext cx="2011680" cy="3520440"/>
          </a:xfrm>
          <a:prstGeom prst="roundRect">
            <a:avLst>
              <a:gd name="adj" fmla="val 4545"/>
            </a:avLst>
          </a:prstGeom>
          <a:solidFill>
            <a:srgbClr val="F4F8F6"/>
          </a:solidFill>
          <a:ln w="12700">
            <a:solidFill>
              <a:srgbClr val="D5E3DC"/>
            </a:solidFill>
            <a:prstDash val="solid"/>
          </a:ln>
        </p:spPr>
      </p:sp>
      <p:sp>
        <p:nvSpPr>
          <p:cNvPr id="4" name="Shape 2"/>
          <p:cNvSpPr/>
          <p:nvPr/>
        </p:nvSpPr>
        <p:spPr>
          <a:xfrm>
            <a:off x="918972" y="1691640"/>
            <a:ext cx="548640" cy="548640"/>
          </a:xfrm>
          <a:prstGeom prst="ellipse">
            <a:avLst/>
          </a:prstGeom>
          <a:solidFill>
            <a:srgbClr val="14503C"/>
          </a:solidFill>
          <a:ln/>
        </p:spPr>
      </p:sp>
      <p:pic>
        <p:nvPicPr>
          <p:cNvPr id="5" name="Image 0" descr="preencoded.png">    </p:cNvPr>
          <p:cNvPicPr>
            <a:picLocks noChangeAspect="1"/>
          </p:cNvPicPr>
          <p:nvPr/>
        </p:nvPicPr>
        <p:blipFill>
          <a:blip r:embed="rId1"/>
          <a:stretch>
            <a:fillRect/>
          </a:stretch>
        </p:blipFill>
        <p:spPr>
          <a:xfrm>
            <a:off x="1056132" y="1828800"/>
            <a:ext cx="274320" cy="274320"/>
          </a:xfrm>
          <a:prstGeom prst="rect">
            <a:avLst/>
          </a:prstGeom>
        </p:spPr>
      </p:pic>
      <p:sp>
        <p:nvSpPr>
          <p:cNvPr id="6" name="Text 3"/>
          <p:cNvSpPr txBox="1"/>
          <p:nvPr/>
        </p:nvSpPr>
        <p:spPr>
          <a:xfrm>
            <a:off x="918972" y="2377440"/>
            <a:ext cx="1645920" cy="365760"/>
          </a:xfrm>
          <a:prstGeom prst="rect">
            <a:avLst/>
          </a:prstGeom>
          <a:noFill/>
          <a:ln/>
        </p:spPr>
        <p:txBody>
          <a:bodyPr wrap="square" lIns="0" tIns="0" rIns="0" bIns="0" rtlCol="0" anchor="ctr"/>
          <a:lstStyle/>
          <a:p>
            <a:pPr indent="0" marL="0">
              <a:buNone/>
            </a:pPr>
            <a:r>
              <a:rPr lang="en-US" sz="1900" b="1" dirty="0">
                <a:solidFill>
                  <a:srgbClr val="0B2E24"/>
                </a:solidFill>
                <a:latin typeface="Cambria" pitchFamily="34" charset="0"/>
                <a:ea typeface="Cambria" pitchFamily="34" charset="-122"/>
                <a:cs typeface="Cambria" pitchFamily="34" charset="-120"/>
              </a:rPr>
              <a:t>Foundation</a:t>
            </a:r>
            <a:endParaRPr lang="en-US" sz="1900" dirty="0"/>
          </a:p>
        </p:txBody>
      </p:sp>
      <p:sp>
        <p:nvSpPr>
          <p:cNvPr id="7" name="Text 4"/>
          <p:cNvSpPr txBox="1"/>
          <p:nvPr/>
        </p:nvSpPr>
        <p:spPr>
          <a:xfrm>
            <a:off x="918972" y="2788920"/>
            <a:ext cx="1645920" cy="777240"/>
          </a:xfrm>
          <a:prstGeom prst="rect">
            <a:avLst/>
          </a:prstGeom>
          <a:noFill/>
          <a:ln/>
        </p:spPr>
        <p:txBody>
          <a:bodyPr wrap="square" lIns="0" tIns="0" rIns="0" bIns="0" rtlCol="0" anchor="t"/>
          <a:lstStyle/>
          <a:p>
            <a:pPr indent="0" marL="0">
              <a:buNone/>
            </a:pPr>
            <a:r>
              <a:rPr lang="en-US" sz="1250" dirty="0">
                <a:solidFill>
                  <a:srgbClr val="5B7268"/>
                </a:solidFill>
                <a:latin typeface="Calibri" pitchFamily="34" charset="0"/>
                <a:ea typeface="Calibri" pitchFamily="34" charset="-122"/>
                <a:cs typeface="Calibri" pitchFamily="34" charset="-120"/>
              </a:rPr>
              <a:t>Setup, data layer, server + errors</a:t>
            </a:r>
            <a:endParaRPr lang="en-US" sz="1250" dirty="0"/>
          </a:p>
        </p:txBody>
      </p:sp>
      <p:sp>
        <p:nvSpPr>
          <p:cNvPr id="8" name="Shape 5"/>
          <p:cNvSpPr/>
          <p:nvPr/>
        </p:nvSpPr>
        <p:spPr>
          <a:xfrm>
            <a:off x="918972" y="3703320"/>
            <a:ext cx="411480" cy="411480"/>
          </a:xfrm>
          <a:prstGeom prst="ellipse">
            <a:avLst/>
          </a:prstGeom>
          <a:solidFill>
            <a:srgbClr val="F5B841"/>
          </a:solidFill>
          <a:ln/>
        </p:spPr>
      </p:sp>
      <p:sp>
        <p:nvSpPr>
          <p:cNvPr id="9" name="Text 6"/>
          <p:cNvSpPr txBox="1"/>
          <p:nvPr/>
        </p:nvSpPr>
        <p:spPr>
          <a:xfrm>
            <a:off x="918972"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1</a:t>
            </a:r>
            <a:endParaRPr lang="en-US" sz="1300" dirty="0"/>
          </a:p>
        </p:txBody>
      </p:sp>
      <p:sp>
        <p:nvSpPr>
          <p:cNvPr id="10" name="Shape 7"/>
          <p:cNvSpPr/>
          <p:nvPr/>
        </p:nvSpPr>
        <p:spPr>
          <a:xfrm>
            <a:off x="1467612" y="3703320"/>
            <a:ext cx="411480" cy="411480"/>
          </a:xfrm>
          <a:prstGeom prst="ellipse">
            <a:avLst/>
          </a:prstGeom>
          <a:solidFill>
            <a:srgbClr val="F5B841"/>
          </a:solidFill>
          <a:ln/>
        </p:spPr>
      </p:sp>
      <p:sp>
        <p:nvSpPr>
          <p:cNvPr id="11" name="Text 8"/>
          <p:cNvSpPr txBox="1"/>
          <p:nvPr/>
        </p:nvSpPr>
        <p:spPr>
          <a:xfrm>
            <a:off x="1467612"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2</a:t>
            </a:r>
            <a:endParaRPr lang="en-US" sz="1300" dirty="0"/>
          </a:p>
        </p:txBody>
      </p:sp>
      <p:sp>
        <p:nvSpPr>
          <p:cNvPr id="12" name="Shape 9"/>
          <p:cNvSpPr/>
          <p:nvPr/>
        </p:nvSpPr>
        <p:spPr>
          <a:xfrm>
            <a:off x="2016252" y="3703320"/>
            <a:ext cx="411480" cy="411480"/>
          </a:xfrm>
          <a:prstGeom prst="ellipse">
            <a:avLst/>
          </a:prstGeom>
          <a:solidFill>
            <a:srgbClr val="F5B841"/>
          </a:solidFill>
          <a:ln/>
        </p:spPr>
      </p:sp>
      <p:sp>
        <p:nvSpPr>
          <p:cNvPr id="13" name="Text 10"/>
          <p:cNvSpPr txBox="1"/>
          <p:nvPr/>
        </p:nvSpPr>
        <p:spPr>
          <a:xfrm>
            <a:off x="2016252"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3</a:t>
            </a:r>
            <a:endParaRPr lang="en-US" sz="1300" dirty="0"/>
          </a:p>
        </p:txBody>
      </p:sp>
      <p:sp>
        <p:nvSpPr>
          <p:cNvPr id="14" name="Shape 11"/>
          <p:cNvSpPr/>
          <p:nvPr/>
        </p:nvSpPr>
        <p:spPr>
          <a:xfrm>
            <a:off x="2912364" y="1508760"/>
            <a:ext cx="2011680" cy="3520440"/>
          </a:xfrm>
          <a:prstGeom prst="roundRect">
            <a:avLst>
              <a:gd name="adj" fmla="val 4545"/>
            </a:avLst>
          </a:prstGeom>
          <a:solidFill>
            <a:srgbClr val="F4F8F6"/>
          </a:solidFill>
          <a:ln w="12700">
            <a:solidFill>
              <a:srgbClr val="D5E3DC"/>
            </a:solidFill>
            <a:prstDash val="solid"/>
          </a:ln>
        </p:spPr>
      </p:sp>
      <p:sp>
        <p:nvSpPr>
          <p:cNvPr id="15" name="Shape 12"/>
          <p:cNvSpPr/>
          <p:nvPr/>
        </p:nvSpPr>
        <p:spPr>
          <a:xfrm>
            <a:off x="3095244" y="1691640"/>
            <a:ext cx="548640" cy="548640"/>
          </a:xfrm>
          <a:prstGeom prst="ellipse">
            <a:avLst/>
          </a:prstGeom>
          <a:solidFill>
            <a:srgbClr val="14503C"/>
          </a:solidFill>
          <a:ln/>
        </p:spPr>
      </p:sp>
      <p:pic>
        <p:nvPicPr>
          <p:cNvPr id="16" name="Image 1" descr="preencoded.png">    </p:cNvPr>
          <p:cNvPicPr>
            <a:picLocks noChangeAspect="1"/>
          </p:cNvPicPr>
          <p:nvPr/>
        </p:nvPicPr>
        <p:blipFill>
          <a:blip r:embed="rId2"/>
          <a:stretch>
            <a:fillRect/>
          </a:stretch>
        </p:blipFill>
        <p:spPr>
          <a:xfrm>
            <a:off x="3232404" y="1828800"/>
            <a:ext cx="274320" cy="274320"/>
          </a:xfrm>
          <a:prstGeom prst="rect">
            <a:avLst/>
          </a:prstGeom>
        </p:spPr>
      </p:pic>
      <p:sp>
        <p:nvSpPr>
          <p:cNvPr id="17" name="Text 13"/>
          <p:cNvSpPr txBox="1"/>
          <p:nvPr/>
        </p:nvSpPr>
        <p:spPr>
          <a:xfrm>
            <a:off x="3095244" y="2377440"/>
            <a:ext cx="1645920" cy="365760"/>
          </a:xfrm>
          <a:prstGeom prst="rect">
            <a:avLst/>
          </a:prstGeom>
          <a:noFill/>
          <a:ln/>
        </p:spPr>
        <p:txBody>
          <a:bodyPr wrap="square" lIns="0" tIns="0" rIns="0" bIns="0" rtlCol="0" anchor="ctr"/>
          <a:lstStyle/>
          <a:p>
            <a:pPr indent="0" marL="0">
              <a:buNone/>
            </a:pPr>
            <a:r>
              <a:rPr lang="en-US" sz="1900" b="1" dirty="0">
                <a:solidFill>
                  <a:srgbClr val="0B2E24"/>
                </a:solidFill>
                <a:latin typeface="Cambria" pitchFamily="34" charset="0"/>
                <a:ea typeface="Cambria" pitchFamily="34" charset="-122"/>
                <a:cs typeface="Cambria" pitchFamily="34" charset="-120"/>
              </a:rPr>
              <a:t>Logic</a:t>
            </a:r>
            <a:endParaRPr lang="en-US" sz="1900" dirty="0"/>
          </a:p>
        </p:txBody>
      </p:sp>
      <p:sp>
        <p:nvSpPr>
          <p:cNvPr id="18" name="Text 14"/>
          <p:cNvSpPr txBox="1"/>
          <p:nvPr/>
        </p:nvSpPr>
        <p:spPr>
          <a:xfrm>
            <a:off x="3095244" y="2788920"/>
            <a:ext cx="1645920" cy="777240"/>
          </a:xfrm>
          <a:prstGeom prst="rect">
            <a:avLst/>
          </a:prstGeom>
          <a:noFill/>
          <a:ln/>
        </p:spPr>
        <p:txBody>
          <a:bodyPr wrap="square" lIns="0" tIns="0" rIns="0" bIns="0" rtlCol="0" anchor="t"/>
          <a:lstStyle/>
          <a:p>
            <a:pPr indent="0" marL="0">
              <a:buNone/>
            </a:pPr>
            <a:r>
              <a:rPr lang="en-US" sz="1250" dirty="0">
                <a:solidFill>
                  <a:srgbClr val="5B7268"/>
                </a:solidFill>
                <a:latin typeface="Calibri" pitchFamily="34" charset="0"/>
                <a:ea typeface="Calibri" pitchFamily="34" charset="-122"/>
                <a:cs typeface="Calibri" pitchFamily="34" charset="-120"/>
              </a:rPr>
              <a:t>Validation + controller (4 parts)</a:t>
            </a:r>
            <a:endParaRPr lang="en-US" sz="1250" dirty="0"/>
          </a:p>
        </p:txBody>
      </p:sp>
      <p:sp>
        <p:nvSpPr>
          <p:cNvPr id="19" name="Shape 15"/>
          <p:cNvSpPr/>
          <p:nvPr/>
        </p:nvSpPr>
        <p:spPr>
          <a:xfrm>
            <a:off x="3095244" y="3703320"/>
            <a:ext cx="411480" cy="411480"/>
          </a:xfrm>
          <a:prstGeom prst="ellipse">
            <a:avLst/>
          </a:prstGeom>
          <a:solidFill>
            <a:srgbClr val="F5B841"/>
          </a:solidFill>
          <a:ln/>
        </p:spPr>
      </p:sp>
      <p:sp>
        <p:nvSpPr>
          <p:cNvPr id="20" name="Text 16"/>
          <p:cNvSpPr txBox="1"/>
          <p:nvPr/>
        </p:nvSpPr>
        <p:spPr>
          <a:xfrm>
            <a:off x="3095244"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4</a:t>
            </a:r>
            <a:endParaRPr lang="en-US" sz="1300" dirty="0"/>
          </a:p>
        </p:txBody>
      </p:sp>
      <p:sp>
        <p:nvSpPr>
          <p:cNvPr id="21" name="Shape 17"/>
          <p:cNvSpPr/>
          <p:nvPr/>
        </p:nvSpPr>
        <p:spPr>
          <a:xfrm>
            <a:off x="3643884" y="3703320"/>
            <a:ext cx="411480" cy="411480"/>
          </a:xfrm>
          <a:prstGeom prst="ellipse">
            <a:avLst/>
          </a:prstGeom>
          <a:solidFill>
            <a:srgbClr val="F5B841"/>
          </a:solidFill>
          <a:ln/>
        </p:spPr>
      </p:sp>
      <p:sp>
        <p:nvSpPr>
          <p:cNvPr id="22" name="Text 18"/>
          <p:cNvSpPr txBox="1"/>
          <p:nvPr/>
        </p:nvSpPr>
        <p:spPr>
          <a:xfrm>
            <a:off x="3643884"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5</a:t>
            </a:r>
            <a:endParaRPr lang="en-US" sz="1300" dirty="0"/>
          </a:p>
        </p:txBody>
      </p:sp>
      <p:sp>
        <p:nvSpPr>
          <p:cNvPr id="23" name="Shape 19"/>
          <p:cNvSpPr/>
          <p:nvPr/>
        </p:nvSpPr>
        <p:spPr>
          <a:xfrm>
            <a:off x="4192524" y="3703320"/>
            <a:ext cx="411480" cy="411480"/>
          </a:xfrm>
          <a:prstGeom prst="ellipse">
            <a:avLst/>
          </a:prstGeom>
          <a:solidFill>
            <a:srgbClr val="F5B841"/>
          </a:solidFill>
          <a:ln/>
        </p:spPr>
      </p:sp>
      <p:sp>
        <p:nvSpPr>
          <p:cNvPr id="24" name="Text 20"/>
          <p:cNvSpPr txBox="1"/>
          <p:nvPr/>
        </p:nvSpPr>
        <p:spPr>
          <a:xfrm>
            <a:off x="4192524"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6</a:t>
            </a:r>
            <a:endParaRPr lang="en-US" sz="1300" dirty="0"/>
          </a:p>
        </p:txBody>
      </p:sp>
      <p:sp>
        <p:nvSpPr>
          <p:cNvPr id="25" name="Shape 21"/>
          <p:cNvSpPr/>
          <p:nvPr/>
        </p:nvSpPr>
        <p:spPr>
          <a:xfrm>
            <a:off x="3095244" y="4160520"/>
            <a:ext cx="411480" cy="411480"/>
          </a:xfrm>
          <a:prstGeom prst="ellipse">
            <a:avLst/>
          </a:prstGeom>
          <a:solidFill>
            <a:srgbClr val="F5B841"/>
          </a:solidFill>
          <a:ln/>
        </p:spPr>
      </p:sp>
      <p:sp>
        <p:nvSpPr>
          <p:cNvPr id="26" name="Text 22"/>
          <p:cNvSpPr txBox="1"/>
          <p:nvPr/>
        </p:nvSpPr>
        <p:spPr>
          <a:xfrm>
            <a:off x="3095244" y="41605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7</a:t>
            </a:r>
            <a:endParaRPr lang="en-US" sz="1300" dirty="0"/>
          </a:p>
        </p:txBody>
      </p:sp>
      <p:sp>
        <p:nvSpPr>
          <p:cNvPr id="27" name="Shape 23"/>
          <p:cNvSpPr/>
          <p:nvPr/>
        </p:nvSpPr>
        <p:spPr>
          <a:xfrm>
            <a:off x="3643884" y="4160520"/>
            <a:ext cx="411480" cy="411480"/>
          </a:xfrm>
          <a:prstGeom prst="ellipse">
            <a:avLst/>
          </a:prstGeom>
          <a:solidFill>
            <a:srgbClr val="F5B841"/>
          </a:solidFill>
          <a:ln/>
        </p:spPr>
      </p:sp>
      <p:sp>
        <p:nvSpPr>
          <p:cNvPr id="28" name="Text 24"/>
          <p:cNvSpPr txBox="1"/>
          <p:nvPr/>
        </p:nvSpPr>
        <p:spPr>
          <a:xfrm>
            <a:off x="3643884" y="41605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8</a:t>
            </a:r>
            <a:endParaRPr lang="en-US" sz="1300" dirty="0"/>
          </a:p>
        </p:txBody>
      </p:sp>
      <p:sp>
        <p:nvSpPr>
          <p:cNvPr id="29" name="Shape 25"/>
          <p:cNvSpPr/>
          <p:nvPr/>
        </p:nvSpPr>
        <p:spPr>
          <a:xfrm>
            <a:off x="5088636" y="1508760"/>
            <a:ext cx="2011680" cy="3520440"/>
          </a:xfrm>
          <a:prstGeom prst="roundRect">
            <a:avLst>
              <a:gd name="adj" fmla="val 4545"/>
            </a:avLst>
          </a:prstGeom>
          <a:solidFill>
            <a:srgbClr val="F4F8F6"/>
          </a:solidFill>
          <a:ln w="12700">
            <a:solidFill>
              <a:srgbClr val="D5E3DC"/>
            </a:solidFill>
            <a:prstDash val="solid"/>
          </a:ln>
        </p:spPr>
      </p:sp>
      <p:sp>
        <p:nvSpPr>
          <p:cNvPr id="30" name="Shape 26"/>
          <p:cNvSpPr/>
          <p:nvPr/>
        </p:nvSpPr>
        <p:spPr>
          <a:xfrm>
            <a:off x="5271516" y="1691640"/>
            <a:ext cx="548640" cy="548640"/>
          </a:xfrm>
          <a:prstGeom prst="ellipse">
            <a:avLst/>
          </a:prstGeom>
          <a:solidFill>
            <a:srgbClr val="14503C"/>
          </a:solidFill>
          <a:ln/>
        </p:spPr>
      </p:sp>
      <p:pic>
        <p:nvPicPr>
          <p:cNvPr id="31" name="Image 2" descr="preencoded.png">    </p:cNvPr>
          <p:cNvPicPr>
            <a:picLocks noChangeAspect="1"/>
          </p:cNvPicPr>
          <p:nvPr/>
        </p:nvPicPr>
        <p:blipFill>
          <a:blip r:embed="rId3"/>
          <a:stretch>
            <a:fillRect/>
          </a:stretch>
        </p:blipFill>
        <p:spPr>
          <a:xfrm>
            <a:off x="5408676" y="1828800"/>
            <a:ext cx="274320" cy="274320"/>
          </a:xfrm>
          <a:prstGeom prst="rect">
            <a:avLst/>
          </a:prstGeom>
        </p:spPr>
      </p:pic>
      <p:sp>
        <p:nvSpPr>
          <p:cNvPr id="32" name="Text 27"/>
          <p:cNvSpPr txBox="1"/>
          <p:nvPr/>
        </p:nvSpPr>
        <p:spPr>
          <a:xfrm>
            <a:off x="5271516" y="2377440"/>
            <a:ext cx="1645920" cy="365760"/>
          </a:xfrm>
          <a:prstGeom prst="rect">
            <a:avLst/>
          </a:prstGeom>
          <a:noFill/>
          <a:ln/>
        </p:spPr>
        <p:txBody>
          <a:bodyPr wrap="square" lIns="0" tIns="0" rIns="0" bIns="0" rtlCol="0" anchor="ctr"/>
          <a:lstStyle/>
          <a:p>
            <a:pPr indent="0" marL="0">
              <a:buNone/>
            </a:pPr>
            <a:r>
              <a:rPr lang="en-US" sz="1900" b="1" dirty="0">
                <a:solidFill>
                  <a:srgbClr val="0B2E24"/>
                </a:solidFill>
                <a:latin typeface="Cambria" pitchFamily="34" charset="0"/>
                <a:ea typeface="Cambria" pitchFamily="34" charset="-122"/>
                <a:cs typeface="Cambria" pitchFamily="34" charset="-120"/>
              </a:rPr>
              <a:t>Assembly</a:t>
            </a:r>
            <a:endParaRPr lang="en-US" sz="1900" dirty="0"/>
          </a:p>
        </p:txBody>
      </p:sp>
      <p:sp>
        <p:nvSpPr>
          <p:cNvPr id="33" name="Text 28"/>
          <p:cNvSpPr txBox="1"/>
          <p:nvPr/>
        </p:nvSpPr>
        <p:spPr>
          <a:xfrm>
            <a:off x="5271516" y="2788920"/>
            <a:ext cx="1645920" cy="777240"/>
          </a:xfrm>
          <a:prstGeom prst="rect">
            <a:avLst/>
          </a:prstGeom>
          <a:noFill/>
          <a:ln/>
        </p:spPr>
        <p:txBody>
          <a:bodyPr wrap="square" lIns="0" tIns="0" rIns="0" bIns="0" rtlCol="0" anchor="t"/>
          <a:lstStyle/>
          <a:p>
            <a:pPr indent="0" marL="0">
              <a:buNone/>
            </a:pPr>
            <a:r>
              <a:rPr lang="en-US" sz="1250" dirty="0">
                <a:solidFill>
                  <a:srgbClr val="5B7268"/>
                </a:solidFill>
                <a:latin typeface="Calibri" pitchFamily="34" charset="0"/>
                <a:ea typeface="Calibri" pitchFamily="34" charset="-122"/>
                <a:cs typeface="Calibri" pitchFamily="34" charset="-120"/>
              </a:rPr>
              <a:t>Routes and app wiring</a:t>
            </a:r>
            <a:endParaRPr lang="en-US" sz="1250" dirty="0"/>
          </a:p>
        </p:txBody>
      </p:sp>
      <p:sp>
        <p:nvSpPr>
          <p:cNvPr id="34" name="Shape 29"/>
          <p:cNvSpPr/>
          <p:nvPr/>
        </p:nvSpPr>
        <p:spPr>
          <a:xfrm>
            <a:off x="5271516" y="3703320"/>
            <a:ext cx="411480" cy="411480"/>
          </a:xfrm>
          <a:prstGeom prst="ellipse">
            <a:avLst/>
          </a:prstGeom>
          <a:solidFill>
            <a:srgbClr val="F5B841"/>
          </a:solidFill>
          <a:ln/>
        </p:spPr>
      </p:sp>
      <p:sp>
        <p:nvSpPr>
          <p:cNvPr id="35" name="Text 30"/>
          <p:cNvSpPr txBox="1"/>
          <p:nvPr/>
        </p:nvSpPr>
        <p:spPr>
          <a:xfrm>
            <a:off x="5271516"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9</a:t>
            </a:r>
            <a:endParaRPr lang="en-US" sz="1300" dirty="0"/>
          </a:p>
        </p:txBody>
      </p:sp>
      <p:sp>
        <p:nvSpPr>
          <p:cNvPr id="36" name="Shape 31"/>
          <p:cNvSpPr/>
          <p:nvPr/>
        </p:nvSpPr>
        <p:spPr>
          <a:xfrm>
            <a:off x="7264908" y="1508760"/>
            <a:ext cx="2011680" cy="3520440"/>
          </a:xfrm>
          <a:prstGeom prst="roundRect">
            <a:avLst>
              <a:gd name="adj" fmla="val 4545"/>
            </a:avLst>
          </a:prstGeom>
          <a:solidFill>
            <a:srgbClr val="F4F8F6"/>
          </a:solidFill>
          <a:ln w="12700">
            <a:solidFill>
              <a:srgbClr val="D5E3DC"/>
            </a:solidFill>
            <a:prstDash val="solid"/>
          </a:ln>
        </p:spPr>
      </p:sp>
      <p:sp>
        <p:nvSpPr>
          <p:cNvPr id="37" name="Shape 32"/>
          <p:cNvSpPr/>
          <p:nvPr/>
        </p:nvSpPr>
        <p:spPr>
          <a:xfrm>
            <a:off x="7447788" y="1691640"/>
            <a:ext cx="548640" cy="548640"/>
          </a:xfrm>
          <a:prstGeom prst="ellipse">
            <a:avLst/>
          </a:prstGeom>
          <a:solidFill>
            <a:srgbClr val="14503C"/>
          </a:solidFill>
          <a:ln/>
        </p:spPr>
      </p:sp>
      <p:pic>
        <p:nvPicPr>
          <p:cNvPr id="38" name="Image 3" descr="preencoded.png">    </p:cNvPr>
          <p:cNvPicPr>
            <a:picLocks noChangeAspect="1"/>
          </p:cNvPicPr>
          <p:nvPr/>
        </p:nvPicPr>
        <p:blipFill>
          <a:blip r:embed="rId4"/>
          <a:stretch>
            <a:fillRect/>
          </a:stretch>
        </p:blipFill>
        <p:spPr>
          <a:xfrm>
            <a:off x="7584948" y="1828800"/>
            <a:ext cx="274320" cy="274320"/>
          </a:xfrm>
          <a:prstGeom prst="rect">
            <a:avLst/>
          </a:prstGeom>
        </p:spPr>
      </p:pic>
      <p:sp>
        <p:nvSpPr>
          <p:cNvPr id="39" name="Text 33"/>
          <p:cNvSpPr txBox="1"/>
          <p:nvPr/>
        </p:nvSpPr>
        <p:spPr>
          <a:xfrm>
            <a:off x="7447788" y="2377440"/>
            <a:ext cx="1645920" cy="365760"/>
          </a:xfrm>
          <a:prstGeom prst="rect">
            <a:avLst/>
          </a:prstGeom>
          <a:noFill/>
          <a:ln/>
        </p:spPr>
        <p:txBody>
          <a:bodyPr wrap="square" lIns="0" tIns="0" rIns="0" bIns="0" rtlCol="0" anchor="ctr"/>
          <a:lstStyle/>
          <a:p>
            <a:pPr indent="0" marL="0">
              <a:buNone/>
            </a:pPr>
            <a:r>
              <a:rPr lang="en-US" sz="1900" b="1" dirty="0">
                <a:solidFill>
                  <a:srgbClr val="0B2E24"/>
                </a:solidFill>
                <a:latin typeface="Cambria" pitchFamily="34" charset="0"/>
                <a:ea typeface="Cambria" pitchFamily="34" charset="-122"/>
                <a:cs typeface="Cambria" pitchFamily="34" charset="-120"/>
              </a:rPr>
              <a:t>Tests</a:t>
            </a:r>
            <a:endParaRPr lang="en-US" sz="1900" dirty="0"/>
          </a:p>
        </p:txBody>
      </p:sp>
      <p:sp>
        <p:nvSpPr>
          <p:cNvPr id="40" name="Text 34"/>
          <p:cNvSpPr txBox="1"/>
          <p:nvPr/>
        </p:nvSpPr>
        <p:spPr>
          <a:xfrm>
            <a:off x="7447788" y="2788920"/>
            <a:ext cx="1645920" cy="777240"/>
          </a:xfrm>
          <a:prstGeom prst="rect">
            <a:avLst/>
          </a:prstGeom>
          <a:noFill/>
          <a:ln/>
        </p:spPr>
        <p:txBody>
          <a:bodyPr wrap="square" lIns="0" tIns="0" rIns="0" bIns="0" rtlCol="0" anchor="t"/>
          <a:lstStyle/>
          <a:p>
            <a:pPr indent="0" marL="0">
              <a:buNone/>
            </a:pPr>
            <a:r>
              <a:rPr lang="en-US" sz="1250" dirty="0">
                <a:solidFill>
                  <a:srgbClr val="5B7268"/>
                </a:solidFill>
                <a:latin typeface="Calibri" pitchFamily="34" charset="0"/>
                <a:ea typeface="Calibri" pitchFamily="34" charset="-122"/>
                <a:cs typeface="Calibri" pitchFamily="34" charset="-120"/>
              </a:rPr>
              <a:t>A: POST, B: GET, C: PUT/PATCH/DELETE</a:t>
            </a:r>
            <a:endParaRPr lang="en-US" sz="1250" dirty="0"/>
          </a:p>
        </p:txBody>
      </p:sp>
      <p:sp>
        <p:nvSpPr>
          <p:cNvPr id="41" name="Shape 35"/>
          <p:cNvSpPr/>
          <p:nvPr/>
        </p:nvSpPr>
        <p:spPr>
          <a:xfrm>
            <a:off x="7447788" y="3703320"/>
            <a:ext cx="411480" cy="411480"/>
          </a:xfrm>
          <a:prstGeom prst="ellipse">
            <a:avLst/>
          </a:prstGeom>
          <a:solidFill>
            <a:srgbClr val="F5B841"/>
          </a:solidFill>
          <a:ln/>
        </p:spPr>
      </p:sp>
      <p:sp>
        <p:nvSpPr>
          <p:cNvPr id="42" name="Text 36"/>
          <p:cNvSpPr txBox="1"/>
          <p:nvPr/>
        </p:nvSpPr>
        <p:spPr>
          <a:xfrm>
            <a:off x="7447788"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10</a:t>
            </a:r>
            <a:endParaRPr lang="en-US" sz="1300" dirty="0"/>
          </a:p>
        </p:txBody>
      </p:sp>
      <p:sp>
        <p:nvSpPr>
          <p:cNvPr id="43" name="Shape 37"/>
          <p:cNvSpPr/>
          <p:nvPr/>
        </p:nvSpPr>
        <p:spPr>
          <a:xfrm>
            <a:off x="7996428" y="3703320"/>
            <a:ext cx="411480" cy="411480"/>
          </a:xfrm>
          <a:prstGeom prst="ellipse">
            <a:avLst/>
          </a:prstGeom>
          <a:solidFill>
            <a:srgbClr val="F5B841"/>
          </a:solidFill>
          <a:ln/>
        </p:spPr>
      </p:sp>
      <p:sp>
        <p:nvSpPr>
          <p:cNvPr id="44" name="Text 38"/>
          <p:cNvSpPr txBox="1"/>
          <p:nvPr/>
        </p:nvSpPr>
        <p:spPr>
          <a:xfrm>
            <a:off x="7996428"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11</a:t>
            </a:r>
            <a:endParaRPr lang="en-US" sz="1300" dirty="0"/>
          </a:p>
        </p:txBody>
      </p:sp>
      <p:sp>
        <p:nvSpPr>
          <p:cNvPr id="45" name="Shape 39"/>
          <p:cNvSpPr/>
          <p:nvPr/>
        </p:nvSpPr>
        <p:spPr>
          <a:xfrm>
            <a:off x="8545068" y="3703320"/>
            <a:ext cx="411480" cy="411480"/>
          </a:xfrm>
          <a:prstGeom prst="ellipse">
            <a:avLst/>
          </a:prstGeom>
          <a:solidFill>
            <a:srgbClr val="F5B841"/>
          </a:solidFill>
          <a:ln/>
        </p:spPr>
      </p:sp>
      <p:sp>
        <p:nvSpPr>
          <p:cNvPr id="46" name="Text 40"/>
          <p:cNvSpPr txBox="1"/>
          <p:nvPr/>
        </p:nvSpPr>
        <p:spPr>
          <a:xfrm>
            <a:off x="8545068"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12</a:t>
            </a:r>
            <a:endParaRPr lang="en-US" sz="1300" dirty="0"/>
          </a:p>
        </p:txBody>
      </p:sp>
      <p:sp>
        <p:nvSpPr>
          <p:cNvPr id="47" name="Shape 41"/>
          <p:cNvSpPr/>
          <p:nvPr/>
        </p:nvSpPr>
        <p:spPr>
          <a:xfrm>
            <a:off x="9441180" y="1508760"/>
            <a:ext cx="2011680" cy="3520440"/>
          </a:xfrm>
          <a:prstGeom prst="roundRect">
            <a:avLst>
              <a:gd name="adj" fmla="val 4545"/>
            </a:avLst>
          </a:prstGeom>
          <a:solidFill>
            <a:srgbClr val="F4F8F6"/>
          </a:solidFill>
          <a:ln w="12700">
            <a:solidFill>
              <a:srgbClr val="D5E3DC"/>
            </a:solidFill>
            <a:prstDash val="solid"/>
          </a:ln>
        </p:spPr>
      </p:sp>
      <p:sp>
        <p:nvSpPr>
          <p:cNvPr id="48" name="Shape 42"/>
          <p:cNvSpPr/>
          <p:nvPr/>
        </p:nvSpPr>
        <p:spPr>
          <a:xfrm>
            <a:off x="9624060" y="1691640"/>
            <a:ext cx="548640" cy="548640"/>
          </a:xfrm>
          <a:prstGeom prst="ellipse">
            <a:avLst/>
          </a:prstGeom>
          <a:solidFill>
            <a:srgbClr val="14503C"/>
          </a:solidFill>
          <a:ln/>
        </p:spPr>
      </p:sp>
      <p:pic>
        <p:nvPicPr>
          <p:cNvPr id="49" name="Image 4" descr="preencoded.png">    </p:cNvPr>
          <p:cNvPicPr>
            <a:picLocks noChangeAspect="1"/>
          </p:cNvPicPr>
          <p:nvPr/>
        </p:nvPicPr>
        <p:blipFill>
          <a:blip r:embed="rId5"/>
          <a:stretch>
            <a:fillRect/>
          </a:stretch>
        </p:blipFill>
        <p:spPr>
          <a:xfrm>
            <a:off x="9761220" y="1828800"/>
            <a:ext cx="274320" cy="274320"/>
          </a:xfrm>
          <a:prstGeom prst="rect">
            <a:avLst/>
          </a:prstGeom>
        </p:spPr>
      </p:pic>
      <p:sp>
        <p:nvSpPr>
          <p:cNvPr id="50" name="Text 43"/>
          <p:cNvSpPr txBox="1"/>
          <p:nvPr/>
        </p:nvSpPr>
        <p:spPr>
          <a:xfrm>
            <a:off x="9624060" y="2377440"/>
            <a:ext cx="1645920" cy="365760"/>
          </a:xfrm>
          <a:prstGeom prst="rect">
            <a:avLst/>
          </a:prstGeom>
          <a:noFill/>
          <a:ln/>
        </p:spPr>
        <p:txBody>
          <a:bodyPr wrap="square" lIns="0" tIns="0" rIns="0" bIns="0" rtlCol="0" anchor="ctr"/>
          <a:lstStyle/>
          <a:p>
            <a:pPr indent="0" marL="0">
              <a:buNone/>
            </a:pPr>
            <a:r>
              <a:rPr lang="en-US" sz="1900" b="1" dirty="0">
                <a:solidFill>
                  <a:srgbClr val="0B2E24"/>
                </a:solidFill>
                <a:latin typeface="Cambria" pitchFamily="34" charset="0"/>
                <a:ea typeface="Cambria" pitchFamily="34" charset="-122"/>
                <a:cs typeface="Cambria" pitchFamily="34" charset="-120"/>
              </a:rPr>
              <a:t>Docs</a:t>
            </a:r>
            <a:endParaRPr lang="en-US" sz="1900" dirty="0"/>
          </a:p>
        </p:txBody>
      </p:sp>
      <p:sp>
        <p:nvSpPr>
          <p:cNvPr id="51" name="Text 44"/>
          <p:cNvSpPr txBox="1"/>
          <p:nvPr/>
        </p:nvSpPr>
        <p:spPr>
          <a:xfrm>
            <a:off x="9624060" y="2788920"/>
            <a:ext cx="1645920" cy="777240"/>
          </a:xfrm>
          <a:prstGeom prst="rect">
            <a:avLst/>
          </a:prstGeom>
          <a:noFill/>
          <a:ln/>
        </p:spPr>
        <p:txBody>
          <a:bodyPr wrap="square" lIns="0" tIns="0" rIns="0" bIns="0" rtlCol="0" anchor="t"/>
          <a:lstStyle/>
          <a:p>
            <a:pPr indent="0" marL="0">
              <a:buNone/>
            </a:pPr>
            <a:r>
              <a:rPr lang="en-US" sz="1250" dirty="0">
                <a:solidFill>
                  <a:srgbClr val="5B7268"/>
                </a:solidFill>
                <a:latin typeface="Calibri" pitchFamily="34" charset="0"/>
                <a:ea typeface="Calibri" pitchFamily="34" charset="-122"/>
                <a:cs typeface="Calibri" pitchFamily="34" charset="-120"/>
              </a:rPr>
              <a:t>README, build guide, final check</a:t>
            </a:r>
            <a:endParaRPr lang="en-US" sz="1250" dirty="0"/>
          </a:p>
        </p:txBody>
      </p:sp>
      <p:sp>
        <p:nvSpPr>
          <p:cNvPr id="52" name="Shape 45"/>
          <p:cNvSpPr/>
          <p:nvPr/>
        </p:nvSpPr>
        <p:spPr>
          <a:xfrm>
            <a:off x="9624060" y="3703320"/>
            <a:ext cx="411480" cy="411480"/>
          </a:xfrm>
          <a:prstGeom prst="ellipse">
            <a:avLst/>
          </a:prstGeom>
          <a:solidFill>
            <a:srgbClr val="F5B841"/>
          </a:solidFill>
          <a:ln/>
        </p:spPr>
      </p:sp>
      <p:sp>
        <p:nvSpPr>
          <p:cNvPr id="53" name="Text 46"/>
          <p:cNvSpPr txBox="1"/>
          <p:nvPr/>
        </p:nvSpPr>
        <p:spPr>
          <a:xfrm>
            <a:off x="9624060" y="3703320"/>
            <a:ext cx="411480" cy="411480"/>
          </a:xfrm>
          <a:prstGeom prst="rect">
            <a:avLst/>
          </a:prstGeom>
          <a:noFill/>
          <a:ln/>
        </p:spPr>
        <p:txBody>
          <a:bodyPr wrap="square" lIns="0" tIns="0" rIns="0" bIns="0" rtlCol="0" anchor="ctr"/>
          <a:lstStyle/>
          <a:p>
            <a:pPr algn="ctr" indent="0" marL="0">
              <a:buNone/>
            </a:pPr>
            <a:r>
              <a:rPr lang="en-US" sz="1300" b="1" dirty="0">
                <a:solidFill>
                  <a:srgbClr val="0B2E24"/>
                </a:solidFill>
                <a:latin typeface="Calibri" pitchFamily="34" charset="0"/>
                <a:ea typeface="Calibri" pitchFamily="34" charset="-122"/>
                <a:cs typeface="Calibri" pitchFamily="34" charset="-120"/>
              </a:rPr>
              <a:t>13</a:t>
            </a:r>
            <a:endParaRPr lang="en-US" sz="1300" dirty="0"/>
          </a:p>
        </p:txBody>
      </p:sp>
      <p:sp>
        <p:nvSpPr>
          <p:cNvPr id="54" name="Text 47"/>
          <p:cNvSpPr txBox="1"/>
          <p:nvPr/>
        </p:nvSpPr>
        <p:spPr>
          <a:xfrm>
            <a:off x="640080" y="5440680"/>
            <a:ext cx="10908792" cy="914400"/>
          </a:xfrm>
          <a:prstGeom prst="rect">
            <a:avLst/>
          </a:prstGeom>
          <a:noFill/>
          <a:ln/>
        </p:spPr>
        <p:txBody>
          <a:bodyPr wrap="square" lIns="0" tIns="0" rIns="0" bIns="0" rtlCol="0" anchor="t"/>
          <a:lstStyle/>
          <a:p>
            <a:pPr indent="0" marL="0">
              <a:buNone/>
            </a:pPr>
            <a:r>
              <a:rPr lang="en-US" sz="1700" b="1" dirty="0">
                <a:solidFill>
                  <a:srgbClr val="14503C"/>
                </a:solidFill>
                <a:latin typeface="Calibri" pitchFamily="34" charset="0"/>
                <a:ea typeface="Calibri" pitchFamily="34" charset="-122"/>
                <a:cs typeface="Calibri" pitchFamily="34" charset="-120"/>
              </a:rPr>
              <a:t>How we worked on GitHub: </a:t>
            </a:r>
            <a:pPr indent="0" marL="0">
              <a:buNone/>
            </a:pPr>
            <a:r>
              <a:rPr lang="en-US" sz="1700" dirty="0">
                <a:solidFill>
                  <a:srgbClr val="12271F"/>
                </a:solidFill>
                <a:latin typeface="Calibri" pitchFamily="34" charset="0"/>
                <a:ea typeface="Calibri" pitchFamily="34" charset="-122"/>
                <a:cs typeface="Calibri" pitchFamily="34" charset="-120"/>
              </a:rPr>
              <a:t>each member owned one part and pushed it as their own commit, merged in order 1 to 13 so every part built on the last.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640080" y="1280160"/>
            <a:ext cx="64008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640080" y="2377440"/>
            <a:ext cx="6400800" cy="822960"/>
          </a:xfrm>
          <a:prstGeom prst="rect">
            <a:avLst/>
          </a:prstGeom>
          <a:noFill/>
          <a:ln/>
        </p:spPr>
        <p:txBody>
          <a:bodyPr wrap="square" lIns="0" tIns="0" rIns="0" bIns="0" rtlCol="0" anchor="ctr"/>
          <a:lstStyle/>
          <a:p>
            <a:pPr indent="0" marL="0">
              <a:buNone/>
            </a:pPr>
            <a:r>
              <a:rPr lang="en-US" sz="4000" dirty="0">
                <a:solidFill>
                  <a:srgbClr val="F5B841"/>
                </a:solidFill>
                <a:latin typeface="Cambria" pitchFamily="34" charset="0"/>
                <a:ea typeface="Cambria" pitchFamily="34" charset="-122"/>
                <a:cs typeface="Cambria" pitchFamily="34" charset="-120"/>
              </a:rPr>
              <a:t>Questions?</a:t>
            </a:r>
            <a:endParaRPr lang="en-US" sz="4000" dirty="0"/>
          </a:p>
        </p:txBody>
      </p:sp>
      <p:sp>
        <p:nvSpPr>
          <p:cNvPr id="4" name="Text 2"/>
          <p:cNvSpPr txBox="1"/>
          <p:nvPr/>
        </p:nvSpPr>
        <p:spPr>
          <a:xfrm>
            <a:off x="640080" y="3657600"/>
            <a:ext cx="5943600" cy="18288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CFE6DB"/>
                </a:solidFill>
                <a:latin typeface="Calibri" pitchFamily="34" charset="0"/>
                <a:ea typeface="Calibri" pitchFamily="34" charset="-122"/>
                <a:cs typeface="Calibri" pitchFamily="34" charset="-120"/>
              </a:rPr>
              <a:t>Full CRUD with validation</a:t>
            </a:r>
            <a:endParaRPr lang="en-US" sz="2000" dirty="0"/>
          </a:p>
          <a:p>
            <a:pPr marL="342900" indent="-342900">
              <a:spcAft>
                <a:spcPts val="800"/>
              </a:spcAft>
              <a:buSzPct val="100000"/>
              <a:buChar char="•"/>
            </a:pPr>
            <a:r>
              <a:rPr lang="en-US" sz="2000" dirty="0">
                <a:solidFill>
                  <a:srgbClr val="CFE6DB"/>
                </a:solidFill>
                <a:latin typeface="Calibri" pitchFamily="34" charset="0"/>
                <a:ea typeface="Calibri" pitchFamily="34" charset="-122"/>
                <a:cs typeface="Calibri" pitchFamily="34" charset="-120"/>
              </a:rPr>
              <a:t>Filter, search, sort, paginate, summary</a:t>
            </a:r>
            <a:endParaRPr lang="en-US" sz="2000" dirty="0"/>
          </a:p>
          <a:p>
            <a:pPr marL="342900" indent="-342900">
              <a:spcAft>
                <a:spcPts val="800"/>
              </a:spcAft>
              <a:buSzPct val="100000"/>
              <a:buChar char="•"/>
            </a:pPr>
            <a:r>
              <a:rPr lang="en-US" sz="2000" dirty="0">
                <a:solidFill>
                  <a:srgbClr val="CFE6DB"/>
                </a:solidFill>
                <a:latin typeface="Calibri" pitchFamily="34" charset="0"/>
                <a:ea typeface="Calibri" pitchFamily="34" charset="-122"/>
                <a:cs typeface="Calibri" pitchFamily="34" charset="-120"/>
              </a:rPr>
              <a:t>15 automated tests, all passing</a:t>
            </a:r>
            <a:endParaRPr lang="en-US" sz="2000" dirty="0"/>
          </a:p>
          <a:p>
            <a:pPr marL="342900" indent="-342900">
              <a:spcAft>
                <a:spcPts val="800"/>
              </a:spcAft>
              <a:buSzPct val="100000"/>
              <a:buChar char="•"/>
            </a:pPr>
            <a:r>
              <a:rPr lang="en-US" sz="2000" dirty="0">
                <a:solidFill>
                  <a:srgbClr val="CFE6DB"/>
                </a:solidFill>
                <a:latin typeface="Calibri" pitchFamily="34" charset="0"/>
                <a:ea typeface="Calibri" pitchFamily="34" charset="-122"/>
                <a:cs typeface="Calibri" pitchFamily="34" charset="-120"/>
              </a:rPr>
              <a:t>Built by 13 people on GitHub</a:t>
            </a:r>
            <a:endParaRPr lang="en-US" sz="2000" dirty="0"/>
          </a:p>
        </p:txBody>
      </p:sp>
      <p:sp>
        <p:nvSpPr>
          <p:cNvPr id="5" name="Shape 3"/>
          <p:cNvSpPr/>
          <p:nvPr/>
        </p:nvSpPr>
        <p:spPr>
          <a:xfrm>
            <a:off x="7406640" y="1463040"/>
            <a:ext cx="4160520" cy="3931920"/>
          </a:xfrm>
          <a:prstGeom prst="roundRect">
            <a:avLst>
              <a:gd name="adj" fmla="val 2791"/>
            </a:avLst>
          </a:prstGeom>
          <a:solidFill>
            <a:srgbClr val="0F3B2D"/>
          </a:solidFill>
          <a:ln w="12700">
            <a:solidFill>
              <a:srgbClr val="14503C"/>
            </a:solidFill>
            <a:prstDash val="solid"/>
          </a:ln>
        </p:spPr>
      </p:sp>
      <p:pic>
        <p:nvPicPr>
          <p:cNvPr id="6" name="Image 0" descr="preencoded.png">    </p:cNvPr>
          <p:cNvPicPr>
            <a:picLocks noChangeAspect="1"/>
          </p:cNvPicPr>
          <p:nvPr/>
        </p:nvPicPr>
        <p:blipFill>
          <a:blip r:embed="rId1"/>
          <a:stretch>
            <a:fillRect/>
          </a:stretch>
        </p:blipFill>
        <p:spPr>
          <a:xfrm>
            <a:off x="9098280" y="1828800"/>
            <a:ext cx="777240" cy="777240"/>
          </a:xfrm>
          <a:prstGeom prst="rect">
            <a:avLst/>
          </a:prstGeom>
        </p:spPr>
      </p:pic>
      <p:sp>
        <p:nvSpPr>
          <p:cNvPr id="7" name="Text 4"/>
          <p:cNvSpPr txBox="1"/>
          <p:nvPr/>
        </p:nvSpPr>
        <p:spPr>
          <a:xfrm>
            <a:off x="7406640" y="2834640"/>
            <a:ext cx="41605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Source code</a:t>
            </a:r>
            <a:endParaRPr lang="en-US" sz="2200" dirty="0"/>
          </a:p>
        </p:txBody>
      </p:sp>
      <p:sp>
        <p:nvSpPr>
          <p:cNvPr id="8" name="Text 5"/>
          <p:cNvSpPr txBox="1"/>
          <p:nvPr/>
        </p:nvSpPr>
        <p:spPr>
          <a:xfrm>
            <a:off x="7589520" y="3429000"/>
            <a:ext cx="3794760" cy="822960"/>
          </a:xfrm>
          <a:prstGeom prst="rect">
            <a:avLst/>
          </a:prstGeom>
          <a:noFill/>
          <a:ln/>
        </p:spPr>
        <p:txBody>
          <a:bodyPr wrap="square" lIns="0" tIns="0" rIns="0" bIns="0" rtlCol="0" anchor="t"/>
          <a:lstStyle/>
          <a:p>
            <a:pPr algn="ctr" indent="0" marL="0">
              <a:buNone/>
            </a:pPr>
            <a:r>
              <a:rPr lang="en-US" sz="1250" dirty="0">
                <a:solidFill>
                  <a:srgbClr val="3DDC97"/>
                </a:solidFill>
                <a:latin typeface="Courier New" pitchFamily="34" charset="0"/>
                <a:ea typeface="Courier New" pitchFamily="34" charset="-122"/>
                <a:cs typeface="Courier New" pitchFamily="34" charset="-120"/>
              </a:rPr>
              <a:t>github.com/Gabby-Css/</a:t>
            </a:r>
            <a:endParaRPr lang="en-US" sz="1250" dirty="0"/>
          </a:p>
          <a:p>
            <a:pPr algn="ctr" indent="0" marL="0">
              <a:buNone/>
            </a:pPr>
            <a:r>
              <a:rPr lang="en-US" sz="1250" dirty="0">
                <a:solidFill>
                  <a:srgbClr val="3DDC97"/>
                </a:solidFill>
                <a:latin typeface="Courier New" pitchFamily="34" charset="0"/>
                <a:ea typeface="Courier New" pitchFamily="34" charset="-122"/>
                <a:cs typeface="Courier New" pitchFamily="34" charset="-120"/>
              </a:rPr>
              <a:t>Expense-Tracker-API---Group-3A</a:t>
            </a:r>
            <a:endParaRPr lang="en-US" sz="1250" dirty="0"/>
          </a:p>
        </p:txBody>
      </p:sp>
      <p:sp>
        <p:nvSpPr>
          <p:cNvPr id="9" name="Text 6"/>
          <p:cNvSpPr txBox="1"/>
          <p:nvPr/>
        </p:nvSpPr>
        <p:spPr>
          <a:xfrm>
            <a:off x="7406640" y="4617720"/>
            <a:ext cx="4160520" cy="365760"/>
          </a:xfrm>
          <a:prstGeom prst="rect">
            <a:avLst/>
          </a:prstGeom>
          <a:noFill/>
          <a:ln/>
        </p:spPr>
        <p:txBody>
          <a:bodyPr wrap="square" lIns="0" tIns="0" rIns="0" bIns="0" rtlCol="0" anchor="ctr"/>
          <a:lstStyle/>
          <a:p>
            <a:pPr algn="ctr" indent="0" marL="0">
              <a:buNone/>
            </a:pPr>
            <a:r>
              <a:rPr lang="en-US" sz="1500" dirty="0">
                <a:solidFill>
                  <a:srgbClr val="CFE6DB"/>
                </a:solidFill>
                <a:latin typeface="Calibri" pitchFamily="34" charset="0"/>
                <a:ea typeface="Calibri" pitchFamily="34" charset="-122"/>
                <a:cs typeface="Calibri" pitchFamily="34" charset="-120"/>
              </a:rPr>
              <a:t>Group 3A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 API - Group 3A</dc:title>
  <dc:subject>PptxGenJS Presentation</dc:subject>
  <dc:creator>Group 3A</dc:creator>
  <cp:lastModifiedBy>Group 3A</cp:lastModifiedBy>
  <cp:revision>1</cp:revision>
  <dcterms:created xsi:type="dcterms:W3CDTF">2026-09-30T11:45:55Z</dcterms:created>
  <dcterms:modified xsi:type="dcterms:W3CDTF">2026-09-30T11:45:55Z</dcterms:modified>
</cp:coreProperties>
</file>